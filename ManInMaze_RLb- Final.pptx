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7" r:id="rId11"/>
    <p:sldId id="268"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9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0"/>
            <a:ext cx="8503920" cy="1280160"/>
          </a:xfrm>
          <a:prstGeom prst="rect">
            <a:avLst/>
          </a:prstGeom>
          <a:noFill/>
        </p:spPr>
        <p:txBody>
          <a:bodyPr wrap="square">
            <a:spAutoFit/>
          </a:bodyPr>
          <a:lstStyle/>
          <a:p>
            <a:pPr algn="l"/>
            <a:r>
              <a:rPr sz="5600" b="1" i="0">
                <a:solidFill>
                  <a:srgbClr val="FFFFFF"/>
                </a:solidFill>
              </a:rPr>
              <a:t>MAN IN MAZE</a:t>
            </a:r>
          </a:p>
        </p:txBody>
      </p:sp>
      <p:sp>
        <p:nvSpPr>
          <p:cNvPr id="4" name="Rectangle 3"/>
          <p:cNvSpPr/>
          <p:nvPr/>
        </p:nvSpPr>
        <p:spPr>
          <a:xfrm>
            <a:off x="320040" y="2487168"/>
            <a:ext cx="3657600" cy="54864"/>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2615184"/>
            <a:ext cx="8503920" cy="502920"/>
          </a:xfrm>
          <a:prstGeom prst="rect">
            <a:avLst/>
          </a:prstGeom>
          <a:noFill/>
        </p:spPr>
        <p:txBody>
          <a:bodyPr wrap="square">
            <a:spAutoFit/>
          </a:bodyPr>
          <a:lstStyle/>
          <a:p>
            <a:pPr algn="l"/>
            <a:r>
              <a:rPr sz="1800" b="0" i="1" dirty="0">
                <a:solidFill>
                  <a:srgbClr val="CCD6E0"/>
                </a:solidFill>
              </a:rPr>
              <a:t>Reinforcement Learning — Grid World Navigation Agent</a:t>
            </a:r>
          </a:p>
        </p:txBody>
      </p:sp>
      <p:sp>
        <p:nvSpPr>
          <p:cNvPr id="6" name="TextBox 5"/>
          <p:cNvSpPr txBox="1"/>
          <p:nvPr/>
        </p:nvSpPr>
        <p:spPr>
          <a:xfrm>
            <a:off x="320040" y="2952729"/>
            <a:ext cx="8503920" cy="477054"/>
          </a:xfrm>
          <a:prstGeom prst="rect">
            <a:avLst/>
          </a:prstGeom>
          <a:noFill/>
        </p:spPr>
        <p:txBody>
          <a:bodyPr wrap="square">
            <a:spAutoFit/>
          </a:bodyPr>
          <a:lstStyle/>
          <a:p>
            <a:pPr algn="l"/>
            <a:r>
              <a:rPr sz="1250" b="0" i="0" dirty="0">
                <a:solidFill>
                  <a:srgbClr val="5599CC"/>
                </a:solidFill>
              </a:rPr>
              <a:t>Agent  ·  Environment  ·  Reward</a:t>
            </a:r>
            <a:endParaRPr lang="en-US" sz="1250" dirty="0">
              <a:solidFill>
                <a:srgbClr val="5599CC"/>
              </a:solidFill>
            </a:endParaRPr>
          </a:p>
          <a:p>
            <a:pPr algn="l"/>
            <a:endParaRPr sz="1250" b="0" i="0" dirty="0">
              <a:solidFill>
                <a:srgbClr val="5599CC"/>
              </a:solidFill>
            </a:endParaRPr>
          </a:p>
        </p:txBody>
      </p:sp>
      <p:sp>
        <p:nvSpPr>
          <p:cNvPr id="7" name="Rectangle 6"/>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Artificial Intelligence  |  Python  |  RL-Based Pathfinding</a:t>
            </a:r>
          </a:p>
        </p:txBody>
      </p:sp>
      <p:sp>
        <p:nvSpPr>
          <p:cNvPr id="9" name="TextBox 8">
            <a:extLst>
              <a:ext uri="{FF2B5EF4-FFF2-40B4-BE49-F238E27FC236}">
                <a16:creationId xmlns:a16="http://schemas.microsoft.com/office/drawing/2014/main" id="{DE8192BF-8A98-D39B-E0E5-FD6A11C5E14C}"/>
              </a:ext>
            </a:extLst>
          </p:cNvPr>
          <p:cNvSpPr txBox="1"/>
          <p:nvPr/>
        </p:nvSpPr>
        <p:spPr>
          <a:xfrm>
            <a:off x="365760" y="3453493"/>
            <a:ext cx="5928904" cy="923330"/>
          </a:xfrm>
          <a:prstGeom prst="rect">
            <a:avLst/>
          </a:prstGeom>
          <a:noFill/>
        </p:spPr>
        <p:txBody>
          <a:bodyPr wrap="square" rtlCol="0">
            <a:spAutoFit/>
          </a:bodyPr>
          <a:lstStyle/>
          <a:p>
            <a:r>
              <a:rPr lang="en-US" dirty="0">
                <a:solidFill>
                  <a:schemeClr val="bg1"/>
                </a:solidFill>
              </a:rPr>
              <a:t>Submitted by: ANU S  &amp;  ASHNA V</a:t>
            </a:r>
          </a:p>
          <a:p>
            <a:r>
              <a:rPr lang="en-US" dirty="0">
                <a:solidFill>
                  <a:schemeClr val="bg1"/>
                </a:solidFill>
              </a:rPr>
              <a:t>SUBJECT        : Fundamentals of Machine Learning</a:t>
            </a:r>
          </a:p>
          <a:p>
            <a:r>
              <a:rPr lang="en-US" dirty="0">
                <a:solidFill>
                  <a:schemeClr val="bg1"/>
                </a:solidFill>
              </a:rPr>
              <a:t>Roll no           :  230701030 &amp; 230701042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What is Reinforcement Learning?</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896112"/>
            <a:ext cx="8321040" cy="1092607"/>
          </a:xfrm>
          <a:prstGeom prst="rect">
            <a:avLst/>
          </a:prstGeom>
          <a:noFill/>
        </p:spPr>
        <p:txBody>
          <a:bodyPr wrap="square">
            <a:spAutoFit/>
          </a:bodyPr>
          <a:lstStyle/>
          <a:p>
            <a:pPr algn="l"/>
            <a:r>
              <a:rPr sz="1300" b="0" i="0" dirty="0">
                <a:solidFill>
                  <a:srgbClr val="CCD6E0"/>
                </a:solidFill>
              </a:rPr>
              <a:t>Reinforcement Learning (RL) is a branch of Machine Learning where an agent learns to make decisions by interacting with an environment. Unlike supervised learning, there is no labelled dataset the agent discovers the best </a:t>
            </a:r>
            <a:r>
              <a:rPr sz="1300" b="0" i="0" dirty="0" err="1">
                <a:solidFill>
                  <a:srgbClr val="CCD6E0"/>
                </a:solidFill>
              </a:rPr>
              <a:t>behaviour</a:t>
            </a:r>
            <a:r>
              <a:rPr sz="1300" b="0" i="0" dirty="0">
                <a:solidFill>
                  <a:srgbClr val="CCD6E0"/>
                </a:solidFill>
              </a:rPr>
              <a:t> on its own through trial and error. At each step the agent observes its current state, chooses an action, receives a reward or punishment signal, and transitions to a new state. Over many episodes, it learns a policy — a mapping from states to actions  that </a:t>
            </a:r>
            <a:r>
              <a:rPr sz="1300" b="0" i="0" dirty="0" err="1">
                <a:solidFill>
                  <a:srgbClr val="CCD6E0"/>
                </a:solidFill>
              </a:rPr>
              <a:t>maximises</a:t>
            </a:r>
            <a:r>
              <a:rPr sz="1300" b="0" i="0" dirty="0">
                <a:solidFill>
                  <a:srgbClr val="CCD6E0"/>
                </a:solidFill>
              </a:rPr>
              <a:t> cumulative reward.</a:t>
            </a:r>
          </a:p>
        </p:txBody>
      </p:sp>
      <p:sp>
        <p:nvSpPr>
          <p:cNvPr id="6" name="Rectangle 5"/>
          <p:cNvSpPr/>
          <p:nvPr/>
        </p:nvSpPr>
        <p:spPr>
          <a:xfrm>
            <a:off x="411480" y="2926080"/>
            <a:ext cx="1591056" cy="1691640"/>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2926080"/>
            <a:ext cx="1591056" cy="64008"/>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990088"/>
            <a:ext cx="1499616" cy="411480"/>
          </a:xfrm>
          <a:prstGeom prst="rect">
            <a:avLst/>
          </a:prstGeom>
          <a:noFill/>
        </p:spPr>
        <p:txBody>
          <a:bodyPr wrap="square">
            <a:spAutoFit/>
          </a:bodyPr>
          <a:lstStyle/>
          <a:p>
            <a:pPr algn="ctr"/>
            <a:r>
              <a:rPr sz="1100" b="1" i="0">
                <a:solidFill>
                  <a:srgbClr val="00C9FF"/>
                </a:solidFill>
              </a:rPr>
              <a:t>AGENT</a:t>
            </a:r>
          </a:p>
        </p:txBody>
      </p:sp>
      <p:sp>
        <p:nvSpPr>
          <p:cNvPr id="9" name="TextBox 8"/>
          <p:cNvSpPr txBox="1"/>
          <p:nvPr/>
        </p:nvSpPr>
        <p:spPr>
          <a:xfrm>
            <a:off x="457200" y="3401568"/>
            <a:ext cx="1499616" cy="1143000"/>
          </a:xfrm>
          <a:prstGeom prst="rect">
            <a:avLst/>
          </a:prstGeom>
          <a:noFill/>
        </p:spPr>
        <p:txBody>
          <a:bodyPr wrap="square">
            <a:spAutoFit/>
          </a:bodyPr>
          <a:lstStyle/>
          <a:p>
            <a:pPr algn="ctr"/>
            <a:r>
              <a:rPr sz="1000" b="0" i="0">
                <a:solidFill>
                  <a:srgbClr val="CCD6E0"/>
                </a:solidFill>
              </a:rPr>
              <a:t>The learner / decision maker
(Man in Maze)</a:t>
            </a:r>
          </a:p>
        </p:txBody>
      </p:sp>
      <p:sp>
        <p:nvSpPr>
          <p:cNvPr id="10" name="Rectangle 9"/>
          <p:cNvSpPr/>
          <p:nvPr/>
        </p:nvSpPr>
        <p:spPr>
          <a:xfrm>
            <a:off x="2130552" y="2926080"/>
            <a:ext cx="1591056" cy="1691640"/>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130552" y="2926080"/>
            <a:ext cx="1591056" cy="640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76272" y="2990088"/>
            <a:ext cx="1499616" cy="411480"/>
          </a:xfrm>
          <a:prstGeom prst="rect">
            <a:avLst/>
          </a:prstGeom>
          <a:noFill/>
        </p:spPr>
        <p:txBody>
          <a:bodyPr wrap="square">
            <a:spAutoFit/>
          </a:bodyPr>
          <a:lstStyle/>
          <a:p>
            <a:pPr algn="ctr"/>
            <a:r>
              <a:rPr sz="1100" b="1" i="0">
                <a:solidFill>
                  <a:srgbClr val="F39C12"/>
                </a:solidFill>
              </a:rPr>
              <a:t>ACTION</a:t>
            </a:r>
          </a:p>
        </p:txBody>
      </p:sp>
      <p:sp>
        <p:nvSpPr>
          <p:cNvPr id="13" name="TextBox 12"/>
          <p:cNvSpPr txBox="1"/>
          <p:nvPr/>
        </p:nvSpPr>
        <p:spPr>
          <a:xfrm>
            <a:off x="2176272" y="3401568"/>
            <a:ext cx="1499616" cy="1143000"/>
          </a:xfrm>
          <a:prstGeom prst="rect">
            <a:avLst/>
          </a:prstGeom>
          <a:noFill/>
        </p:spPr>
        <p:txBody>
          <a:bodyPr wrap="square">
            <a:spAutoFit/>
          </a:bodyPr>
          <a:lstStyle/>
          <a:p>
            <a:pPr algn="ctr"/>
            <a:r>
              <a:rPr sz="1000" b="0" i="0">
                <a:solidFill>
                  <a:srgbClr val="CCD6E0"/>
                </a:solidFill>
              </a:rPr>
              <a:t>Move: Right / Left / Down / Up</a:t>
            </a:r>
          </a:p>
        </p:txBody>
      </p:sp>
      <p:sp>
        <p:nvSpPr>
          <p:cNvPr id="14" name="Rectangle 13"/>
          <p:cNvSpPr/>
          <p:nvPr/>
        </p:nvSpPr>
        <p:spPr>
          <a:xfrm>
            <a:off x="3849624" y="2926080"/>
            <a:ext cx="1591056" cy="169164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9624" y="2926080"/>
            <a:ext cx="1591056" cy="6400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95344" y="2990088"/>
            <a:ext cx="1499616" cy="411480"/>
          </a:xfrm>
          <a:prstGeom prst="rect">
            <a:avLst/>
          </a:prstGeom>
          <a:noFill/>
        </p:spPr>
        <p:txBody>
          <a:bodyPr wrap="square">
            <a:spAutoFit/>
          </a:bodyPr>
          <a:lstStyle/>
          <a:p>
            <a:pPr algn="ctr"/>
            <a:r>
              <a:rPr sz="1100" b="1" i="0">
                <a:solidFill>
                  <a:srgbClr val="1B6CA8"/>
                </a:solidFill>
              </a:rPr>
              <a:t>ENVIRONMENT</a:t>
            </a:r>
          </a:p>
        </p:txBody>
      </p:sp>
      <p:sp>
        <p:nvSpPr>
          <p:cNvPr id="17" name="TextBox 16"/>
          <p:cNvSpPr txBox="1"/>
          <p:nvPr/>
        </p:nvSpPr>
        <p:spPr>
          <a:xfrm>
            <a:off x="3895344" y="3401568"/>
            <a:ext cx="1499616" cy="1143000"/>
          </a:xfrm>
          <a:prstGeom prst="rect">
            <a:avLst/>
          </a:prstGeom>
          <a:noFill/>
        </p:spPr>
        <p:txBody>
          <a:bodyPr wrap="square">
            <a:spAutoFit/>
          </a:bodyPr>
          <a:lstStyle/>
          <a:p>
            <a:pPr algn="ctr"/>
            <a:r>
              <a:rPr sz="1000" b="0" i="0">
                <a:solidFill>
                  <a:srgbClr val="CCD6E0"/>
                </a:solidFill>
              </a:rPr>
              <a:t>4×5 Grid World</a:t>
            </a:r>
          </a:p>
        </p:txBody>
      </p:sp>
      <p:sp>
        <p:nvSpPr>
          <p:cNvPr id="18" name="Rectangle 17"/>
          <p:cNvSpPr/>
          <p:nvPr/>
        </p:nvSpPr>
        <p:spPr>
          <a:xfrm>
            <a:off x="5568696" y="2926080"/>
            <a:ext cx="1591056" cy="1691640"/>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568696" y="2926080"/>
            <a:ext cx="1591056"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14416" y="2990088"/>
            <a:ext cx="1499616" cy="411480"/>
          </a:xfrm>
          <a:prstGeom prst="rect">
            <a:avLst/>
          </a:prstGeom>
          <a:noFill/>
        </p:spPr>
        <p:txBody>
          <a:bodyPr wrap="square">
            <a:spAutoFit/>
          </a:bodyPr>
          <a:lstStyle/>
          <a:p>
            <a:pPr algn="ctr"/>
            <a:r>
              <a:rPr sz="1100" b="1" i="0">
                <a:solidFill>
                  <a:srgbClr val="2ECC71"/>
                </a:solidFill>
              </a:rPr>
              <a:t>REWARD</a:t>
            </a:r>
          </a:p>
        </p:txBody>
      </p:sp>
      <p:sp>
        <p:nvSpPr>
          <p:cNvPr id="21" name="TextBox 20"/>
          <p:cNvSpPr txBox="1"/>
          <p:nvPr/>
        </p:nvSpPr>
        <p:spPr>
          <a:xfrm>
            <a:off x="5614416" y="3401568"/>
            <a:ext cx="1499616" cy="1143000"/>
          </a:xfrm>
          <a:prstGeom prst="rect">
            <a:avLst/>
          </a:prstGeom>
          <a:noFill/>
        </p:spPr>
        <p:txBody>
          <a:bodyPr wrap="square">
            <a:spAutoFit/>
          </a:bodyPr>
          <a:lstStyle/>
          <a:p>
            <a:pPr algn="ctr"/>
            <a:r>
              <a:rPr sz="1000" b="0" i="0">
                <a:solidFill>
                  <a:srgbClr val="CCD6E0"/>
                </a:solidFill>
              </a:rPr>
              <a:t>+ve reward or −ve punishment</a:t>
            </a:r>
          </a:p>
        </p:txBody>
      </p:sp>
      <p:sp>
        <p:nvSpPr>
          <p:cNvPr id="22" name="Rectangle 21"/>
          <p:cNvSpPr/>
          <p:nvPr/>
        </p:nvSpPr>
        <p:spPr>
          <a:xfrm>
            <a:off x="7287768" y="2926080"/>
            <a:ext cx="1591056" cy="1691640"/>
          </a:xfrm>
          <a:prstGeom prst="rect">
            <a:avLst/>
          </a:prstGeom>
          <a:solidFill>
            <a:srgbClr val="132A40"/>
          </a:solidFill>
          <a:ln w="1016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87768" y="2926080"/>
            <a:ext cx="1591056" cy="64008"/>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33488" y="2990088"/>
            <a:ext cx="1499616" cy="411480"/>
          </a:xfrm>
          <a:prstGeom prst="rect">
            <a:avLst/>
          </a:prstGeom>
          <a:noFill/>
        </p:spPr>
        <p:txBody>
          <a:bodyPr wrap="square">
            <a:spAutoFit/>
          </a:bodyPr>
          <a:lstStyle/>
          <a:p>
            <a:pPr algn="ctr"/>
            <a:r>
              <a:rPr sz="1100" b="1" i="0">
                <a:solidFill>
                  <a:srgbClr val="9B59B6"/>
                </a:solidFill>
              </a:rPr>
              <a:t>STATE</a:t>
            </a:r>
          </a:p>
        </p:txBody>
      </p:sp>
      <p:sp>
        <p:nvSpPr>
          <p:cNvPr id="25" name="TextBox 24"/>
          <p:cNvSpPr txBox="1"/>
          <p:nvPr/>
        </p:nvSpPr>
        <p:spPr>
          <a:xfrm>
            <a:off x="7333488" y="3401568"/>
            <a:ext cx="1499616" cy="1143000"/>
          </a:xfrm>
          <a:prstGeom prst="rect">
            <a:avLst/>
          </a:prstGeom>
          <a:noFill/>
        </p:spPr>
        <p:txBody>
          <a:bodyPr wrap="square">
            <a:spAutoFit/>
          </a:bodyPr>
          <a:lstStyle/>
          <a:p>
            <a:pPr algn="ctr"/>
            <a:r>
              <a:rPr sz="1000" b="0" i="0">
                <a:solidFill>
                  <a:srgbClr val="CCD6E0"/>
                </a:solidFill>
              </a:rPr>
              <a:t>Current cell (row, col)</a:t>
            </a:r>
          </a:p>
        </p:txBody>
      </p:sp>
      <p:sp>
        <p:nvSpPr>
          <p:cNvPr id="26" name="Rectangle 25"/>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RL Framework — Man in Maze</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804672"/>
            <a:ext cx="8321040" cy="347472"/>
          </a:xfrm>
          <a:prstGeom prst="rect">
            <a:avLst/>
          </a:prstGeom>
          <a:noFill/>
        </p:spPr>
        <p:txBody>
          <a:bodyPr wrap="square">
            <a:spAutoFit/>
          </a:bodyPr>
          <a:lstStyle/>
          <a:p>
            <a:pPr algn="l"/>
            <a:r>
              <a:rPr sz="1250" b="0" i="1">
                <a:solidFill>
                  <a:srgbClr val="CCD6E0"/>
                </a:solidFill>
              </a:rPr>
              <a:t>How every RL component maps to our project</a:t>
            </a:r>
          </a:p>
        </p:txBody>
      </p:sp>
      <p:sp>
        <p:nvSpPr>
          <p:cNvPr id="6" name="Rectangle 5"/>
          <p:cNvSpPr/>
          <p:nvPr/>
        </p:nvSpPr>
        <p:spPr>
          <a:xfrm>
            <a:off x="384048" y="1024128"/>
            <a:ext cx="1691640" cy="420624"/>
          </a:xfrm>
          <a:prstGeom prst="rect">
            <a:avLst/>
          </a:prstGeom>
          <a:solidFill>
            <a:srgbClr val="1B6CA8"/>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1078992"/>
            <a:ext cx="1600200" cy="347472"/>
          </a:xfrm>
          <a:prstGeom prst="rect">
            <a:avLst/>
          </a:prstGeom>
          <a:noFill/>
        </p:spPr>
        <p:txBody>
          <a:bodyPr wrap="square">
            <a:spAutoFit/>
          </a:bodyPr>
          <a:lstStyle/>
          <a:p>
            <a:pPr algn="l"/>
            <a:r>
              <a:rPr sz="1050" b="1" i="0">
                <a:solidFill>
                  <a:srgbClr val="FFFFFF"/>
                </a:solidFill>
              </a:rPr>
              <a:t>RL Concept</a:t>
            </a:r>
          </a:p>
        </p:txBody>
      </p:sp>
      <p:sp>
        <p:nvSpPr>
          <p:cNvPr id="8" name="Rectangle 7"/>
          <p:cNvSpPr/>
          <p:nvPr/>
        </p:nvSpPr>
        <p:spPr>
          <a:xfrm>
            <a:off x="2084831" y="1024128"/>
            <a:ext cx="2514600" cy="420624"/>
          </a:xfrm>
          <a:prstGeom prst="rect">
            <a:avLst/>
          </a:prstGeom>
          <a:solidFill>
            <a:srgbClr val="1B6CA8"/>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39696" y="1078992"/>
            <a:ext cx="2423160" cy="347472"/>
          </a:xfrm>
          <a:prstGeom prst="rect">
            <a:avLst/>
          </a:prstGeom>
          <a:noFill/>
        </p:spPr>
        <p:txBody>
          <a:bodyPr wrap="square">
            <a:spAutoFit/>
          </a:bodyPr>
          <a:lstStyle/>
          <a:p>
            <a:pPr algn="l"/>
            <a:r>
              <a:rPr sz="1050" b="1" i="0">
                <a:solidFill>
                  <a:srgbClr val="FFFFFF"/>
                </a:solidFill>
              </a:rPr>
              <a:t>Definition</a:t>
            </a:r>
          </a:p>
        </p:txBody>
      </p:sp>
      <p:sp>
        <p:nvSpPr>
          <p:cNvPr id="10" name="Rectangle 9"/>
          <p:cNvSpPr/>
          <p:nvPr/>
        </p:nvSpPr>
        <p:spPr>
          <a:xfrm>
            <a:off x="4608576" y="1024128"/>
            <a:ext cx="3657600" cy="420624"/>
          </a:xfrm>
          <a:prstGeom prst="rect">
            <a:avLst/>
          </a:prstGeom>
          <a:solidFill>
            <a:srgbClr val="1B6CA8"/>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078992"/>
            <a:ext cx="3566160" cy="347472"/>
          </a:xfrm>
          <a:prstGeom prst="rect">
            <a:avLst/>
          </a:prstGeom>
          <a:noFill/>
        </p:spPr>
        <p:txBody>
          <a:bodyPr wrap="square">
            <a:spAutoFit/>
          </a:bodyPr>
          <a:lstStyle/>
          <a:p>
            <a:pPr algn="l"/>
            <a:r>
              <a:rPr sz="1050" b="1" i="0">
                <a:solidFill>
                  <a:srgbClr val="FFFFFF"/>
                </a:solidFill>
              </a:rPr>
              <a:t>In Man in Maze</a:t>
            </a:r>
          </a:p>
        </p:txBody>
      </p:sp>
      <p:sp>
        <p:nvSpPr>
          <p:cNvPr id="12" name="Rectangle 11"/>
          <p:cNvSpPr/>
          <p:nvPr/>
        </p:nvSpPr>
        <p:spPr>
          <a:xfrm>
            <a:off x="384048" y="1444752"/>
            <a:ext cx="169164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 y="1499616"/>
            <a:ext cx="1600200" cy="347472"/>
          </a:xfrm>
          <a:prstGeom prst="rect">
            <a:avLst/>
          </a:prstGeom>
          <a:noFill/>
        </p:spPr>
        <p:txBody>
          <a:bodyPr wrap="square">
            <a:spAutoFit/>
          </a:bodyPr>
          <a:lstStyle/>
          <a:p>
            <a:pPr algn="l"/>
            <a:r>
              <a:rPr sz="1000" b="1" i="0">
                <a:solidFill>
                  <a:srgbClr val="FFFFFF"/>
                </a:solidFill>
              </a:rPr>
              <a:t>Agent</a:t>
            </a:r>
          </a:p>
        </p:txBody>
      </p:sp>
      <p:sp>
        <p:nvSpPr>
          <p:cNvPr id="14" name="Rectangle 13"/>
          <p:cNvSpPr/>
          <p:nvPr/>
        </p:nvSpPr>
        <p:spPr>
          <a:xfrm>
            <a:off x="2084831" y="1444752"/>
            <a:ext cx="2514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39696" y="1499616"/>
            <a:ext cx="2423160" cy="347472"/>
          </a:xfrm>
          <a:prstGeom prst="rect">
            <a:avLst/>
          </a:prstGeom>
          <a:noFill/>
        </p:spPr>
        <p:txBody>
          <a:bodyPr wrap="square">
            <a:spAutoFit/>
          </a:bodyPr>
          <a:lstStyle/>
          <a:p>
            <a:pPr algn="l"/>
            <a:r>
              <a:rPr sz="1000" b="0" i="0">
                <a:solidFill>
                  <a:srgbClr val="CCD6E0"/>
                </a:solidFill>
              </a:rPr>
              <a:t>The decision-making entity</a:t>
            </a:r>
          </a:p>
        </p:txBody>
      </p:sp>
      <p:sp>
        <p:nvSpPr>
          <p:cNvPr id="16" name="Rectangle 15"/>
          <p:cNvSpPr/>
          <p:nvPr/>
        </p:nvSpPr>
        <p:spPr>
          <a:xfrm>
            <a:off x="4608576" y="1444752"/>
            <a:ext cx="3657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1499616"/>
            <a:ext cx="3566160" cy="347472"/>
          </a:xfrm>
          <a:prstGeom prst="rect">
            <a:avLst/>
          </a:prstGeom>
          <a:noFill/>
        </p:spPr>
        <p:txBody>
          <a:bodyPr wrap="square">
            <a:spAutoFit/>
          </a:bodyPr>
          <a:lstStyle/>
          <a:p>
            <a:pPr algn="l"/>
            <a:r>
              <a:rPr sz="1000" b="0" i="0">
                <a:solidFill>
                  <a:srgbClr val="CCD6E0"/>
                </a:solidFill>
              </a:rPr>
              <a:t>The 'Man' navigating the grid</a:t>
            </a:r>
          </a:p>
        </p:txBody>
      </p:sp>
      <p:sp>
        <p:nvSpPr>
          <p:cNvPr id="18" name="Rectangle 17"/>
          <p:cNvSpPr/>
          <p:nvPr/>
        </p:nvSpPr>
        <p:spPr>
          <a:xfrm>
            <a:off x="384048" y="1865376"/>
            <a:ext cx="169164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 y="1920240"/>
            <a:ext cx="1600200" cy="347472"/>
          </a:xfrm>
          <a:prstGeom prst="rect">
            <a:avLst/>
          </a:prstGeom>
          <a:noFill/>
        </p:spPr>
        <p:txBody>
          <a:bodyPr wrap="square">
            <a:spAutoFit/>
          </a:bodyPr>
          <a:lstStyle/>
          <a:p>
            <a:pPr algn="l"/>
            <a:r>
              <a:rPr sz="1000" b="1" i="0">
                <a:solidFill>
                  <a:srgbClr val="FFFFFF"/>
                </a:solidFill>
              </a:rPr>
              <a:t>Environment</a:t>
            </a:r>
          </a:p>
        </p:txBody>
      </p:sp>
      <p:sp>
        <p:nvSpPr>
          <p:cNvPr id="20" name="Rectangle 19"/>
          <p:cNvSpPr/>
          <p:nvPr/>
        </p:nvSpPr>
        <p:spPr>
          <a:xfrm>
            <a:off x="2084831" y="1865376"/>
            <a:ext cx="2514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39696" y="1920240"/>
            <a:ext cx="2423160" cy="347472"/>
          </a:xfrm>
          <a:prstGeom prst="rect">
            <a:avLst/>
          </a:prstGeom>
          <a:noFill/>
        </p:spPr>
        <p:txBody>
          <a:bodyPr wrap="square">
            <a:spAutoFit/>
          </a:bodyPr>
          <a:lstStyle/>
          <a:p>
            <a:pPr algn="l"/>
            <a:r>
              <a:rPr sz="1000" b="0" i="0">
                <a:solidFill>
                  <a:srgbClr val="CCD6E0"/>
                </a:solidFill>
              </a:rPr>
              <a:t>The world the agent interacts with</a:t>
            </a:r>
          </a:p>
        </p:txBody>
      </p:sp>
      <p:sp>
        <p:nvSpPr>
          <p:cNvPr id="22" name="Rectangle 21"/>
          <p:cNvSpPr/>
          <p:nvPr/>
        </p:nvSpPr>
        <p:spPr>
          <a:xfrm>
            <a:off x="4608576" y="1865376"/>
            <a:ext cx="3657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1920240"/>
            <a:ext cx="3566160" cy="347472"/>
          </a:xfrm>
          <a:prstGeom prst="rect">
            <a:avLst/>
          </a:prstGeom>
          <a:noFill/>
        </p:spPr>
        <p:txBody>
          <a:bodyPr wrap="square">
            <a:spAutoFit/>
          </a:bodyPr>
          <a:lstStyle/>
          <a:p>
            <a:pPr algn="l"/>
            <a:r>
              <a:rPr sz="1000" b="0" i="0">
                <a:solidFill>
                  <a:srgbClr val="CCD6E0"/>
                </a:solidFill>
              </a:rPr>
              <a:t>4×5 grid world with cells</a:t>
            </a:r>
          </a:p>
        </p:txBody>
      </p:sp>
      <p:sp>
        <p:nvSpPr>
          <p:cNvPr id="24" name="Rectangle 23"/>
          <p:cNvSpPr/>
          <p:nvPr/>
        </p:nvSpPr>
        <p:spPr>
          <a:xfrm>
            <a:off x="384048" y="2286000"/>
            <a:ext cx="169164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8912" y="2340864"/>
            <a:ext cx="1600200" cy="347472"/>
          </a:xfrm>
          <a:prstGeom prst="rect">
            <a:avLst/>
          </a:prstGeom>
          <a:noFill/>
        </p:spPr>
        <p:txBody>
          <a:bodyPr wrap="square">
            <a:spAutoFit/>
          </a:bodyPr>
          <a:lstStyle/>
          <a:p>
            <a:pPr algn="l"/>
            <a:r>
              <a:rPr sz="1000" b="1" i="0">
                <a:solidFill>
                  <a:srgbClr val="FFFFFF"/>
                </a:solidFill>
              </a:rPr>
              <a:t>State (S)</a:t>
            </a:r>
          </a:p>
        </p:txBody>
      </p:sp>
      <p:sp>
        <p:nvSpPr>
          <p:cNvPr id="26" name="Rectangle 25"/>
          <p:cNvSpPr/>
          <p:nvPr/>
        </p:nvSpPr>
        <p:spPr>
          <a:xfrm>
            <a:off x="2084831" y="2286000"/>
            <a:ext cx="2514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139696" y="2340864"/>
            <a:ext cx="2423160" cy="347472"/>
          </a:xfrm>
          <a:prstGeom prst="rect">
            <a:avLst/>
          </a:prstGeom>
          <a:noFill/>
        </p:spPr>
        <p:txBody>
          <a:bodyPr wrap="square">
            <a:spAutoFit/>
          </a:bodyPr>
          <a:lstStyle/>
          <a:p>
            <a:pPr algn="l"/>
            <a:r>
              <a:rPr sz="1000" b="0" i="0">
                <a:solidFill>
                  <a:srgbClr val="CCD6E0"/>
                </a:solidFill>
              </a:rPr>
              <a:t>Current situation of the agent</a:t>
            </a:r>
          </a:p>
        </p:txBody>
      </p:sp>
      <p:sp>
        <p:nvSpPr>
          <p:cNvPr id="28" name="Rectangle 27"/>
          <p:cNvSpPr/>
          <p:nvPr/>
        </p:nvSpPr>
        <p:spPr>
          <a:xfrm>
            <a:off x="4608576" y="2286000"/>
            <a:ext cx="3657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2340864"/>
            <a:ext cx="3566160" cy="347472"/>
          </a:xfrm>
          <a:prstGeom prst="rect">
            <a:avLst/>
          </a:prstGeom>
          <a:noFill/>
        </p:spPr>
        <p:txBody>
          <a:bodyPr wrap="square">
            <a:spAutoFit/>
          </a:bodyPr>
          <a:lstStyle/>
          <a:p>
            <a:pPr algn="l"/>
            <a:r>
              <a:rPr sz="1000" b="0" i="0">
                <a:solidFill>
                  <a:srgbClr val="CCD6E0"/>
                </a:solidFill>
              </a:rPr>
              <a:t>Current cell coordinates (row, col)</a:t>
            </a:r>
          </a:p>
        </p:txBody>
      </p:sp>
      <p:sp>
        <p:nvSpPr>
          <p:cNvPr id="30" name="Rectangle 29"/>
          <p:cNvSpPr/>
          <p:nvPr/>
        </p:nvSpPr>
        <p:spPr>
          <a:xfrm>
            <a:off x="384048" y="2706624"/>
            <a:ext cx="169164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 y="2761488"/>
            <a:ext cx="1600200" cy="347472"/>
          </a:xfrm>
          <a:prstGeom prst="rect">
            <a:avLst/>
          </a:prstGeom>
          <a:noFill/>
        </p:spPr>
        <p:txBody>
          <a:bodyPr wrap="square">
            <a:spAutoFit/>
          </a:bodyPr>
          <a:lstStyle/>
          <a:p>
            <a:pPr algn="l"/>
            <a:r>
              <a:rPr sz="1000" b="1" i="0">
                <a:solidFill>
                  <a:srgbClr val="FFFFFF"/>
                </a:solidFill>
              </a:rPr>
              <a:t>Action (A)</a:t>
            </a:r>
          </a:p>
        </p:txBody>
      </p:sp>
      <p:sp>
        <p:nvSpPr>
          <p:cNvPr id="32" name="Rectangle 31"/>
          <p:cNvSpPr/>
          <p:nvPr/>
        </p:nvSpPr>
        <p:spPr>
          <a:xfrm>
            <a:off x="2084831" y="2706624"/>
            <a:ext cx="2514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39696" y="2761488"/>
            <a:ext cx="2423160" cy="347472"/>
          </a:xfrm>
          <a:prstGeom prst="rect">
            <a:avLst/>
          </a:prstGeom>
          <a:noFill/>
        </p:spPr>
        <p:txBody>
          <a:bodyPr wrap="square">
            <a:spAutoFit/>
          </a:bodyPr>
          <a:lstStyle/>
          <a:p>
            <a:pPr algn="l"/>
            <a:r>
              <a:rPr sz="1000" b="0" i="0">
                <a:solidFill>
                  <a:srgbClr val="CCD6E0"/>
                </a:solidFill>
              </a:rPr>
              <a:t>Choices the agent can make</a:t>
            </a:r>
          </a:p>
        </p:txBody>
      </p:sp>
      <p:sp>
        <p:nvSpPr>
          <p:cNvPr id="34" name="Rectangle 33"/>
          <p:cNvSpPr/>
          <p:nvPr/>
        </p:nvSpPr>
        <p:spPr>
          <a:xfrm>
            <a:off x="4608576" y="2706624"/>
            <a:ext cx="3657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761488"/>
            <a:ext cx="3566160" cy="347472"/>
          </a:xfrm>
          <a:prstGeom prst="rect">
            <a:avLst/>
          </a:prstGeom>
          <a:noFill/>
        </p:spPr>
        <p:txBody>
          <a:bodyPr wrap="square">
            <a:spAutoFit/>
          </a:bodyPr>
          <a:lstStyle/>
          <a:p>
            <a:pPr algn="l"/>
            <a:r>
              <a:rPr sz="1000" b="0" i="0">
                <a:solidFill>
                  <a:srgbClr val="CCD6E0"/>
                </a:solidFill>
              </a:rPr>
              <a:t>Move Right / Left / Down / Up</a:t>
            </a:r>
          </a:p>
        </p:txBody>
      </p:sp>
      <p:sp>
        <p:nvSpPr>
          <p:cNvPr id="36" name="Rectangle 35"/>
          <p:cNvSpPr/>
          <p:nvPr/>
        </p:nvSpPr>
        <p:spPr>
          <a:xfrm>
            <a:off x="384048" y="3127248"/>
            <a:ext cx="169164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38912" y="3182112"/>
            <a:ext cx="1600200" cy="347472"/>
          </a:xfrm>
          <a:prstGeom prst="rect">
            <a:avLst/>
          </a:prstGeom>
          <a:noFill/>
        </p:spPr>
        <p:txBody>
          <a:bodyPr wrap="square">
            <a:spAutoFit/>
          </a:bodyPr>
          <a:lstStyle/>
          <a:p>
            <a:pPr algn="l"/>
            <a:r>
              <a:rPr sz="1000" b="1" i="0">
                <a:solidFill>
                  <a:srgbClr val="FFFFFF"/>
                </a:solidFill>
              </a:rPr>
              <a:t>Reward (+)</a:t>
            </a:r>
          </a:p>
        </p:txBody>
      </p:sp>
      <p:sp>
        <p:nvSpPr>
          <p:cNvPr id="38" name="Rectangle 37"/>
          <p:cNvSpPr/>
          <p:nvPr/>
        </p:nvSpPr>
        <p:spPr>
          <a:xfrm>
            <a:off x="2084831" y="3127248"/>
            <a:ext cx="2514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139696" y="3182112"/>
            <a:ext cx="2423160" cy="347472"/>
          </a:xfrm>
          <a:prstGeom prst="rect">
            <a:avLst/>
          </a:prstGeom>
          <a:noFill/>
        </p:spPr>
        <p:txBody>
          <a:bodyPr wrap="square">
            <a:spAutoFit/>
          </a:bodyPr>
          <a:lstStyle/>
          <a:p>
            <a:pPr algn="l"/>
            <a:r>
              <a:rPr sz="1000" b="0" i="0">
                <a:solidFill>
                  <a:srgbClr val="CCD6E0"/>
                </a:solidFill>
              </a:rPr>
              <a:t>Positive feedback for good actions</a:t>
            </a:r>
          </a:p>
        </p:txBody>
      </p:sp>
      <p:sp>
        <p:nvSpPr>
          <p:cNvPr id="40" name="Rectangle 39"/>
          <p:cNvSpPr/>
          <p:nvPr/>
        </p:nvSpPr>
        <p:spPr>
          <a:xfrm>
            <a:off x="4608576" y="3127248"/>
            <a:ext cx="3657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63440" y="3182112"/>
            <a:ext cx="3566160" cy="347472"/>
          </a:xfrm>
          <a:prstGeom prst="rect">
            <a:avLst/>
          </a:prstGeom>
          <a:noFill/>
        </p:spPr>
        <p:txBody>
          <a:bodyPr wrap="square">
            <a:spAutoFit/>
          </a:bodyPr>
          <a:lstStyle/>
          <a:p>
            <a:pPr algn="l"/>
            <a:r>
              <a:rPr sz="1000" b="0" i="0">
                <a:solidFill>
                  <a:srgbClr val="CCD6E0"/>
                </a:solidFill>
              </a:rPr>
              <a:t>Reaching (2,2), (0,3) — reward cells</a:t>
            </a:r>
          </a:p>
        </p:txBody>
      </p:sp>
      <p:sp>
        <p:nvSpPr>
          <p:cNvPr id="42" name="Rectangle 41"/>
          <p:cNvSpPr/>
          <p:nvPr/>
        </p:nvSpPr>
        <p:spPr>
          <a:xfrm>
            <a:off x="384048" y="3547872"/>
            <a:ext cx="169164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38912" y="3602736"/>
            <a:ext cx="1600200" cy="347472"/>
          </a:xfrm>
          <a:prstGeom prst="rect">
            <a:avLst/>
          </a:prstGeom>
          <a:noFill/>
        </p:spPr>
        <p:txBody>
          <a:bodyPr wrap="square">
            <a:spAutoFit/>
          </a:bodyPr>
          <a:lstStyle/>
          <a:p>
            <a:pPr algn="l"/>
            <a:r>
              <a:rPr sz="1000" b="1" i="0">
                <a:solidFill>
                  <a:srgbClr val="FFFFFF"/>
                </a:solidFill>
              </a:rPr>
              <a:t>Punishment (−)</a:t>
            </a:r>
          </a:p>
        </p:txBody>
      </p:sp>
      <p:sp>
        <p:nvSpPr>
          <p:cNvPr id="44" name="Rectangle 43"/>
          <p:cNvSpPr/>
          <p:nvPr/>
        </p:nvSpPr>
        <p:spPr>
          <a:xfrm>
            <a:off x="2084831" y="3547872"/>
            <a:ext cx="2514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139696" y="3602736"/>
            <a:ext cx="2423160" cy="347472"/>
          </a:xfrm>
          <a:prstGeom prst="rect">
            <a:avLst/>
          </a:prstGeom>
          <a:noFill/>
        </p:spPr>
        <p:txBody>
          <a:bodyPr wrap="square">
            <a:spAutoFit/>
          </a:bodyPr>
          <a:lstStyle/>
          <a:p>
            <a:pPr algn="l"/>
            <a:r>
              <a:rPr sz="1000" b="0" i="0">
                <a:solidFill>
                  <a:srgbClr val="CCD6E0"/>
                </a:solidFill>
              </a:rPr>
              <a:t>Negative feedback / penalty</a:t>
            </a:r>
          </a:p>
        </p:txBody>
      </p:sp>
      <p:sp>
        <p:nvSpPr>
          <p:cNvPr id="46" name="Rectangle 45"/>
          <p:cNvSpPr/>
          <p:nvPr/>
        </p:nvSpPr>
        <p:spPr>
          <a:xfrm>
            <a:off x="4608576" y="3547872"/>
            <a:ext cx="3657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63440" y="3602736"/>
            <a:ext cx="3566160" cy="347472"/>
          </a:xfrm>
          <a:prstGeom prst="rect">
            <a:avLst/>
          </a:prstGeom>
          <a:noFill/>
        </p:spPr>
        <p:txBody>
          <a:bodyPr wrap="square">
            <a:spAutoFit/>
          </a:bodyPr>
          <a:lstStyle/>
          <a:p>
            <a:pPr algn="l"/>
            <a:r>
              <a:rPr sz="1000" b="0" i="0">
                <a:solidFill>
                  <a:srgbClr val="CCD6E0"/>
                </a:solidFill>
              </a:rPr>
              <a:t>Stepping on trap cells → reset</a:t>
            </a:r>
          </a:p>
        </p:txBody>
      </p:sp>
      <p:sp>
        <p:nvSpPr>
          <p:cNvPr id="48" name="Rectangle 47"/>
          <p:cNvSpPr/>
          <p:nvPr/>
        </p:nvSpPr>
        <p:spPr>
          <a:xfrm>
            <a:off x="384048" y="3968496"/>
            <a:ext cx="169164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38912" y="4023359"/>
            <a:ext cx="1600200" cy="347472"/>
          </a:xfrm>
          <a:prstGeom prst="rect">
            <a:avLst/>
          </a:prstGeom>
          <a:noFill/>
        </p:spPr>
        <p:txBody>
          <a:bodyPr wrap="square">
            <a:spAutoFit/>
          </a:bodyPr>
          <a:lstStyle/>
          <a:p>
            <a:pPr algn="l"/>
            <a:r>
              <a:rPr sz="1000" b="1" i="0">
                <a:solidFill>
                  <a:srgbClr val="FFFFFF"/>
                </a:solidFill>
              </a:rPr>
              <a:t>Policy (π)</a:t>
            </a:r>
          </a:p>
        </p:txBody>
      </p:sp>
      <p:sp>
        <p:nvSpPr>
          <p:cNvPr id="50" name="Rectangle 49"/>
          <p:cNvSpPr/>
          <p:nvPr/>
        </p:nvSpPr>
        <p:spPr>
          <a:xfrm>
            <a:off x="2084831" y="3968496"/>
            <a:ext cx="2514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139696" y="4023359"/>
            <a:ext cx="2423160" cy="347472"/>
          </a:xfrm>
          <a:prstGeom prst="rect">
            <a:avLst/>
          </a:prstGeom>
          <a:noFill/>
        </p:spPr>
        <p:txBody>
          <a:bodyPr wrap="square">
            <a:spAutoFit/>
          </a:bodyPr>
          <a:lstStyle/>
          <a:p>
            <a:pPr algn="l"/>
            <a:r>
              <a:rPr sz="1000" b="0" i="0">
                <a:solidFill>
                  <a:srgbClr val="CCD6E0"/>
                </a:solidFill>
              </a:rPr>
              <a:t>Strategy: state → action mapping</a:t>
            </a:r>
          </a:p>
        </p:txBody>
      </p:sp>
      <p:sp>
        <p:nvSpPr>
          <p:cNvPr id="52" name="Rectangle 51"/>
          <p:cNvSpPr/>
          <p:nvPr/>
        </p:nvSpPr>
        <p:spPr>
          <a:xfrm>
            <a:off x="4608576" y="3968496"/>
            <a:ext cx="3657600" cy="420624"/>
          </a:xfrm>
          <a:prstGeom prst="rect">
            <a:avLst/>
          </a:prstGeom>
          <a:solidFill>
            <a:srgbClr val="102235"/>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663440" y="4023359"/>
            <a:ext cx="3566160" cy="347472"/>
          </a:xfrm>
          <a:prstGeom prst="rect">
            <a:avLst/>
          </a:prstGeom>
          <a:noFill/>
        </p:spPr>
        <p:txBody>
          <a:bodyPr wrap="square">
            <a:spAutoFit/>
          </a:bodyPr>
          <a:lstStyle/>
          <a:p>
            <a:pPr algn="l"/>
            <a:r>
              <a:rPr sz="1000" b="0" i="0">
                <a:solidFill>
                  <a:srgbClr val="CCD6E0"/>
                </a:solidFill>
              </a:rPr>
              <a:t>Experience list — blacklisted bad moves</a:t>
            </a:r>
          </a:p>
        </p:txBody>
      </p:sp>
      <p:sp>
        <p:nvSpPr>
          <p:cNvPr id="54" name="Rectangle 53"/>
          <p:cNvSpPr/>
          <p:nvPr/>
        </p:nvSpPr>
        <p:spPr>
          <a:xfrm>
            <a:off x="384048" y="4389120"/>
            <a:ext cx="169164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38912" y="4443984"/>
            <a:ext cx="1600200" cy="347472"/>
          </a:xfrm>
          <a:prstGeom prst="rect">
            <a:avLst/>
          </a:prstGeom>
          <a:noFill/>
        </p:spPr>
        <p:txBody>
          <a:bodyPr wrap="square">
            <a:spAutoFit/>
          </a:bodyPr>
          <a:lstStyle/>
          <a:p>
            <a:pPr algn="l"/>
            <a:r>
              <a:rPr sz="1000" b="1" i="0">
                <a:solidFill>
                  <a:srgbClr val="FFFFFF"/>
                </a:solidFill>
              </a:rPr>
              <a:t>Episode</a:t>
            </a:r>
          </a:p>
        </p:txBody>
      </p:sp>
      <p:sp>
        <p:nvSpPr>
          <p:cNvPr id="56" name="Rectangle 55"/>
          <p:cNvSpPr/>
          <p:nvPr/>
        </p:nvSpPr>
        <p:spPr>
          <a:xfrm>
            <a:off x="2084831" y="4389120"/>
            <a:ext cx="2514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139696" y="4443984"/>
            <a:ext cx="2423160" cy="347472"/>
          </a:xfrm>
          <a:prstGeom prst="rect">
            <a:avLst/>
          </a:prstGeom>
          <a:noFill/>
        </p:spPr>
        <p:txBody>
          <a:bodyPr wrap="square">
            <a:spAutoFit/>
          </a:bodyPr>
          <a:lstStyle/>
          <a:p>
            <a:pPr algn="l"/>
            <a:r>
              <a:rPr sz="1000" b="0" i="0">
                <a:solidFill>
                  <a:srgbClr val="CCD6E0"/>
                </a:solidFill>
              </a:rPr>
              <a:t>One full run from start to goal/failure</a:t>
            </a:r>
          </a:p>
        </p:txBody>
      </p:sp>
      <p:sp>
        <p:nvSpPr>
          <p:cNvPr id="58" name="Rectangle 57"/>
          <p:cNvSpPr/>
          <p:nvPr/>
        </p:nvSpPr>
        <p:spPr>
          <a:xfrm>
            <a:off x="4608576" y="4389120"/>
            <a:ext cx="3657600" cy="420624"/>
          </a:xfrm>
          <a:prstGeom prst="rect">
            <a:avLst/>
          </a:prstGeom>
          <a:solidFill>
            <a:srgbClr val="132A40"/>
          </a:solidFill>
          <a:ln w="6350">
            <a:solidFill>
              <a:srgbClr val="1B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663440" y="4443984"/>
            <a:ext cx="3566160" cy="347472"/>
          </a:xfrm>
          <a:prstGeom prst="rect">
            <a:avLst/>
          </a:prstGeom>
          <a:noFill/>
        </p:spPr>
        <p:txBody>
          <a:bodyPr wrap="square">
            <a:spAutoFit/>
          </a:bodyPr>
          <a:lstStyle/>
          <a:p>
            <a:pPr algn="l"/>
            <a:r>
              <a:rPr sz="1000" b="0" i="0">
                <a:solidFill>
                  <a:srgbClr val="CCD6E0"/>
                </a:solidFill>
              </a:rPr>
              <a:t>Start (3,0) → Goal (0,3) or trap reset</a:t>
            </a:r>
          </a:p>
        </p:txBody>
      </p:sp>
      <p:sp>
        <p:nvSpPr>
          <p:cNvPr id="60" name="Rectangle 59"/>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The RL Learning Loop</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804672"/>
            <a:ext cx="8321040" cy="347472"/>
          </a:xfrm>
          <a:prstGeom prst="rect">
            <a:avLst/>
          </a:prstGeom>
          <a:noFill/>
        </p:spPr>
        <p:txBody>
          <a:bodyPr wrap="square">
            <a:spAutoFit/>
          </a:bodyPr>
          <a:lstStyle/>
          <a:p>
            <a:pPr algn="l"/>
            <a:r>
              <a:rPr sz="1250" b="0" i="1">
                <a:solidFill>
                  <a:srgbClr val="CCD6E0"/>
                </a:solidFill>
              </a:rPr>
              <a:t>How one episode runs — and how the agent improves across episodes</a:t>
            </a:r>
          </a:p>
        </p:txBody>
      </p:sp>
      <p:sp>
        <p:nvSpPr>
          <p:cNvPr id="6" name="Rectangle 5"/>
          <p:cNvSpPr/>
          <p:nvPr/>
        </p:nvSpPr>
        <p:spPr>
          <a:xfrm>
            <a:off x="411480" y="1097280"/>
            <a:ext cx="4160520" cy="1078992"/>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097280"/>
            <a:ext cx="64008" cy="1078992"/>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1161288"/>
            <a:ext cx="3840480" cy="384048"/>
          </a:xfrm>
          <a:prstGeom prst="rect">
            <a:avLst/>
          </a:prstGeom>
          <a:noFill/>
        </p:spPr>
        <p:txBody>
          <a:bodyPr wrap="square">
            <a:spAutoFit/>
          </a:bodyPr>
          <a:lstStyle/>
          <a:p>
            <a:pPr algn="l"/>
            <a:r>
              <a:rPr sz="1250" b="1" i="0">
                <a:solidFill>
                  <a:srgbClr val="00C9FF"/>
                </a:solidFill>
              </a:rPr>
              <a:t>①  Observe State</a:t>
            </a:r>
          </a:p>
        </p:txBody>
      </p:sp>
      <p:sp>
        <p:nvSpPr>
          <p:cNvPr id="9" name="TextBox 8"/>
          <p:cNvSpPr txBox="1"/>
          <p:nvPr/>
        </p:nvSpPr>
        <p:spPr>
          <a:xfrm>
            <a:off x="576072" y="1536192"/>
            <a:ext cx="3840480" cy="566928"/>
          </a:xfrm>
          <a:prstGeom prst="rect">
            <a:avLst/>
          </a:prstGeom>
          <a:noFill/>
        </p:spPr>
        <p:txBody>
          <a:bodyPr wrap="square">
            <a:spAutoFit/>
          </a:bodyPr>
          <a:lstStyle/>
          <a:p>
            <a:pPr algn="l"/>
            <a:r>
              <a:rPr sz="1100" b="0" i="0">
                <a:solidFill>
                  <a:srgbClr val="CCD6E0"/>
                </a:solidFill>
              </a:rPr>
              <a:t>Agent reads current cell (row,col) from the environment.</a:t>
            </a:r>
          </a:p>
        </p:txBody>
      </p:sp>
      <p:sp>
        <p:nvSpPr>
          <p:cNvPr id="10" name="Rectangle 9"/>
          <p:cNvSpPr/>
          <p:nvPr/>
        </p:nvSpPr>
        <p:spPr>
          <a:xfrm>
            <a:off x="4818888" y="1097280"/>
            <a:ext cx="4160520" cy="1078992"/>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818888" y="1097280"/>
            <a:ext cx="64008" cy="107899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83480" y="1161288"/>
            <a:ext cx="3840480" cy="384048"/>
          </a:xfrm>
          <a:prstGeom prst="rect">
            <a:avLst/>
          </a:prstGeom>
          <a:noFill/>
        </p:spPr>
        <p:txBody>
          <a:bodyPr wrap="square">
            <a:spAutoFit/>
          </a:bodyPr>
          <a:lstStyle/>
          <a:p>
            <a:pPr algn="l"/>
            <a:r>
              <a:rPr sz="1250" b="1" i="0">
                <a:solidFill>
                  <a:srgbClr val="F39C12"/>
                </a:solidFill>
              </a:rPr>
              <a:t>②  Select Action</a:t>
            </a:r>
          </a:p>
        </p:txBody>
      </p:sp>
      <p:sp>
        <p:nvSpPr>
          <p:cNvPr id="13" name="TextBox 12"/>
          <p:cNvSpPr txBox="1"/>
          <p:nvPr/>
        </p:nvSpPr>
        <p:spPr>
          <a:xfrm>
            <a:off x="4983480" y="1536192"/>
            <a:ext cx="3840480" cy="566928"/>
          </a:xfrm>
          <a:prstGeom prst="rect">
            <a:avLst/>
          </a:prstGeom>
          <a:noFill/>
        </p:spPr>
        <p:txBody>
          <a:bodyPr wrap="square">
            <a:spAutoFit/>
          </a:bodyPr>
          <a:lstStyle/>
          <a:p>
            <a:pPr algn="l"/>
            <a:r>
              <a:rPr sz="1100" b="0" i="0">
                <a:solidFill>
                  <a:srgbClr val="CCD6E0"/>
                </a:solidFill>
              </a:rPr>
              <a:t>Iterate actions [→ ← ↓ ↑]. Skip any in the experience (policy).</a:t>
            </a:r>
          </a:p>
        </p:txBody>
      </p:sp>
      <p:sp>
        <p:nvSpPr>
          <p:cNvPr id="14" name="Rectangle 13"/>
          <p:cNvSpPr/>
          <p:nvPr/>
        </p:nvSpPr>
        <p:spPr>
          <a:xfrm>
            <a:off x="411480" y="2304288"/>
            <a:ext cx="4160520" cy="1078992"/>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2304288"/>
            <a:ext cx="64008" cy="1078992"/>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72" y="2368296"/>
            <a:ext cx="3840480" cy="384048"/>
          </a:xfrm>
          <a:prstGeom prst="rect">
            <a:avLst/>
          </a:prstGeom>
          <a:noFill/>
        </p:spPr>
        <p:txBody>
          <a:bodyPr wrap="square">
            <a:spAutoFit/>
          </a:bodyPr>
          <a:lstStyle/>
          <a:p>
            <a:pPr algn="l"/>
            <a:r>
              <a:rPr sz="1250" b="1" i="0">
                <a:solidFill>
                  <a:srgbClr val="1B6CA8"/>
                </a:solidFill>
              </a:rPr>
              <a:t>③  Execute Action</a:t>
            </a:r>
          </a:p>
        </p:txBody>
      </p:sp>
      <p:sp>
        <p:nvSpPr>
          <p:cNvPr id="17" name="TextBox 16"/>
          <p:cNvSpPr txBox="1"/>
          <p:nvPr/>
        </p:nvSpPr>
        <p:spPr>
          <a:xfrm>
            <a:off x="576072" y="2743200"/>
            <a:ext cx="3840480" cy="566928"/>
          </a:xfrm>
          <a:prstGeom prst="rect">
            <a:avLst/>
          </a:prstGeom>
          <a:noFill/>
        </p:spPr>
        <p:txBody>
          <a:bodyPr wrap="square">
            <a:spAutoFit/>
          </a:bodyPr>
          <a:lstStyle/>
          <a:p>
            <a:pPr algn="l"/>
            <a:r>
              <a:rPr sz="1100" b="0" i="0">
                <a:solidFill>
                  <a:srgbClr val="CCD6E0"/>
                </a:solidFill>
              </a:rPr>
              <a:t>Move to new cell. Update state. Append to path.</a:t>
            </a:r>
          </a:p>
        </p:txBody>
      </p:sp>
      <p:sp>
        <p:nvSpPr>
          <p:cNvPr id="18" name="Rectangle 17"/>
          <p:cNvSpPr/>
          <p:nvPr/>
        </p:nvSpPr>
        <p:spPr>
          <a:xfrm>
            <a:off x="4818888" y="2304288"/>
            <a:ext cx="4160520" cy="1078992"/>
          </a:xfrm>
          <a:prstGeom prst="rect">
            <a:avLst/>
          </a:prstGeom>
          <a:solidFill>
            <a:srgbClr val="132A40"/>
          </a:solidFill>
          <a:ln w="1016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818888" y="2304288"/>
            <a:ext cx="64008" cy="107899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83480" y="2368296"/>
            <a:ext cx="3840480" cy="384048"/>
          </a:xfrm>
          <a:prstGeom prst="rect">
            <a:avLst/>
          </a:prstGeom>
          <a:noFill/>
        </p:spPr>
        <p:txBody>
          <a:bodyPr wrap="square">
            <a:spAutoFit/>
          </a:bodyPr>
          <a:lstStyle/>
          <a:p>
            <a:pPr algn="l"/>
            <a:r>
              <a:rPr sz="1250" b="1" i="0">
                <a:solidFill>
                  <a:srgbClr val="E74C3C"/>
                </a:solidFill>
              </a:rPr>
              <a:t>④  Receive Signal</a:t>
            </a:r>
          </a:p>
        </p:txBody>
      </p:sp>
      <p:sp>
        <p:nvSpPr>
          <p:cNvPr id="21" name="TextBox 20"/>
          <p:cNvSpPr txBox="1"/>
          <p:nvPr/>
        </p:nvSpPr>
        <p:spPr>
          <a:xfrm>
            <a:off x="4983480" y="2743200"/>
            <a:ext cx="3840480" cy="566928"/>
          </a:xfrm>
          <a:prstGeom prst="rect">
            <a:avLst/>
          </a:prstGeom>
          <a:noFill/>
        </p:spPr>
        <p:txBody>
          <a:bodyPr wrap="square">
            <a:spAutoFit/>
          </a:bodyPr>
          <a:lstStyle/>
          <a:p>
            <a:pPr algn="l"/>
            <a:r>
              <a:rPr sz="1100" b="0" i="0">
                <a:solidFill>
                  <a:srgbClr val="CCD6E0"/>
                </a:solidFill>
              </a:rPr>
              <a:t>Trap → −ve punishment, reset. Reward cell → +ve. Goal → terminal.</a:t>
            </a:r>
          </a:p>
        </p:txBody>
      </p:sp>
      <p:sp>
        <p:nvSpPr>
          <p:cNvPr id="22" name="Rectangle 21"/>
          <p:cNvSpPr/>
          <p:nvPr/>
        </p:nvSpPr>
        <p:spPr>
          <a:xfrm>
            <a:off x="411480" y="3511296"/>
            <a:ext cx="4160520" cy="1078992"/>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3511296"/>
            <a:ext cx="64008" cy="107899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72" y="3575303"/>
            <a:ext cx="3840480" cy="384048"/>
          </a:xfrm>
          <a:prstGeom prst="rect">
            <a:avLst/>
          </a:prstGeom>
          <a:noFill/>
        </p:spPr>
        <p:txBody>
          <a:bodyPr wrap="square">
            <a:spAutoFit/>
          </a:bodyPr>
          <a:lstStyle/>
          <a:p>
            <a:pPr algn="l"/>
            <a:r>
              <a:rPr sz="1250" b="1" i="0">
                <a:solidFill>
                  <a:srgbClr val="2ECC71"/>
                </a:solidFill>
              </a:rPr>
              <a:t>⑤  Update Policy</a:t>
            </a:r>
          </a:p>
        </p:txBody>
      </p:sp>
      <p:sp>
        <p:nvSpPr>
          <p:cNvPr id="25" name="TextBox 24"/>
          <p:cNvSpPr txBox="1"/>
          <p:nvPr/>
        </p:nvSpPr>
        <p:spPr>
          <a:xfrm>
            <a:off x="576072" y="3950208"/>
            <a:ext cx="3840480" cy="566928"/>
          </a:xfrm>
          <a:prstGeom prst="rect">
            <a:avLst/>
          </a:prstGeom>
          <a:noFill/>
        </p:spPr>
        <p:txBody>
          <a:bodyPr wrap="square">
            <a:spAutoFit/>
          </a:bodyPr>
          <a:lstStyle/>
          <a:p>
            <a:pPr algn="l"/>
            <a:r>
              <a:rPr sz="1100" b="0" i="0">
                <a:solidFill>
                  <a:srgbClr val="CCD6E0"/>
                </a:solidFill>
              </a:rPr>
              <a:t>Record bad (state,action) in experience list. Block it forever.</a:t>
            </a:r>
          </a:p>
        </p:txBody>
      </p:sp>
      <p:sp>
        <p:nvSpPr>
          <p:cNvPr id="26" name="Rectangle 25"/>
          <p:cNvSpPr/>
          <p:nvPr/>
        </p:nvSpPr>
        <p:spPr>
          <a:xfrm>
            <a:off x="4818888" y="3511296"/>
            <a:ext cx="4160520" cy="1078992"/>
          </a:xfrm>
          <a:prstGeom prst="rect">
            <a:avLst/>
          </a:prstGeom>
          <a:solidFill>
            <a:srgbClr val="132A40"/>
          </a:solidFill>
          <a:ln w="1016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818888" y="3511296"/>
            <a:ext cx="64008" cy="1078992"/>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83480" y="3575303"/>
            <a:ext cx="3840480" cy="384048"/>
          </a:xfrm>
          <a:prstGeom prst="rect">
            <a:avLst/>
          </a:prstGeom>
          <a:noFill/>
        </p:spPr>
        <p:txBody>
          <a:bodyPr wrap="square">
            <a:spAutoFit/>
          </a:bodyPr>
          <a:lstStyle/>
          <a:p>
            <a:pPr algn="l"/>
            <a:r>
              <a:rPr sz="1250" b="1" i="0">
                <a:solidFill>
                  <a:srgbClr val="9B59B6"/>
                </a:solidFill>
              </a:rPr>
              <a:t>⑥  New Episode</a:t>
            </a:r>
          </a:p>
        </p:txBody>
      </p:sp>
      <p:sp>
        <p:nvSpPr>
          <p:cNvPr id="29" name="TextBox 28"/>
          <p:cNvSpPr txBox="1"/>
          <p:nvPr/>
        </p:nvSpPr>
        <p:spPr>
          <a:xfrm>
            <a:off x="4983480" y="3950208"/>
            <a:ext cx="3840480" cy="566928"/>
          </a:xfrm>
          <a:prstGeom prst="rect">
            <a:avLst/>
          </a:prstGeom>
          <a:noFill/>
        </p:spPr>
        <p:txBody>
          <a:bodyPr wrap="square">
            <a:spAutoFit/>
          </a:bodyPr>
          <a:lstStyle/>
          <a:p>
            <a:pPr algn="l"/>
            <a:r>
              <a:rPr sz="1100" b="0" i="0">
                <a:solidFill>
                  <a:srgbClr val="CCD6E0"/>
                </a:solidFill>
              </a:rPr>
              <a:t>Reset to start with enriched experience — smarter next attempt.</a:t>
            </a:r>
          </a:p>
        </p:txBody>
      </p:sp>
      <p:sp>
        <p:nvSpPr>
          <p:cNvPr id="30" name="Rectangle 29"/>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The Environment — 4×5 Grid World</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896112"/>
            <a:ext cx="4846320" cy="2103120"/>
          </a:xfrm>
          <a:prstGeom prst="rect">
            <a:avLst/>
          </a:prstGeom>
          <a:noFill/>
        </p:spPr>
        <p:txBody>
          <a:bodyPr wrap="square">
            <a:spAutoFit/>
          </a:bodyPr>
          <a:lstStyle/>
          <a:p>
            <a:pPr algn="l"/>
            <a:r>
              <a:rPr sz="1250" b="0" i="0">
                <a:solidFill>
                  <a:srgbClr val="CCD6E0"/>
                </a:solidFill>
              </a:rPr>
              <a:t>The environment is the world the agent operates in — a 4-row × 5-column grid. Each cell is uniquely identified by its (row, col) coordinates and has a type that determines the reward signal the agent receives upon entering it. The environment is fully observable: the agent always knows its exact state. Transitions are deterministic — the same action from the same state always leads to the same next state. Boundaries are hard walls; the agent cannot leave the grid.</a:t>
            </a:r>
          </a:p>
        </p:txBody>
      </p:sp>
      <p:sp>
        <p:nvSpPr>
          <p:cNvPr id="6" name="Rectangle 5"/>
          <p:cNvSpPr/>
          <p:nvPr/>
        </p:nvSpPr>
        <p:spPr>
          <a:xfrm>
            <a:off x="5321808" y="822960"/>
            <a:ext cx="3474720" cy="365760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13248" y="932688"/>
            <a:ext cx="3291840" cy="3383280"/>
          </a:xfrm>
          <a:prstGeom prst="rect">
            <a:avLst/>
          </a:prstGeom>
          <a:noFill/>
        </p:spPr>
        <p:txBody>
          <a:bodyPr wrap="square">
            <a:spAutoFit/>
          </a:bodyPr>
          <a:lstStyle/>
          <a:p>
            <a:pPr algn="l">
              <a:spcAft>
                <a:spcPts val="300"/>
              </a:spcAft>
            </a:pPr>
            <a:r>
              <a:rPr sz="1000" b="0">
                <a:solidFill>
                  <a:srgbClr val="00C9FF"/>
                </a:solidFill>
              </a:rPr>
              <a:t>      C0    C1    C2    C3    C4</a:t>
            </a:r>
          </a:p>
          <a:p>
            <a:pPr algn="l">
              <a:spcAft>
                <a:spcPts val="300"/>
              </a:spcAft>
            </a:pPr>
            <a:r>
              <a:rPr sz="1000" b="0">
                <a:solidFill>
                  <a:srgbClr val="00C9FF"/>
                </a:solidFill>
              </a:rPr>
              <a:t>R0  [   ] [   ] [   ] [ 🏁] [   ]</a:t>
            </a:r>
          </a:p>
          <a:p>
            <a:pPr algn="l">
              <a:spcAft>
                <a:spcPts val="300"/>
              </a:spcAft>
            </a:pPr>
            <a:r>
              <a:rPr sz="1000" b="0">
                <a:solidFill>
                  <a:srgbClr val="00C9FF"/>
                </a:solidFill>
              </a:rPr>
              <a:t>R1  [   ] [💀 ] [💀 ] [   ] [   ]</a:t>
            </a:r>
          </a:p>
          <a:p>
            <a:pPr algn="l">
              <a:spcAft>
                <a:spcPts val="300"/>
              </a:spcAft>
            </a:pPr>
            <a:r>
              <a:rPr sz="1000" b="0">
                <a:solidFill>
                  <a:srgbClr val="00C9FF"/>
                </a:solidFill>
              </a:rPr>
              <a:t>R2  [   ] [   ] [⭐ ] [💀 ] [   ]</a:t>
            </a:r>
          </a:p>
          <a:p>
            <a:pPr algn="l">
              <a:spcAft>
                <a:spcPts val="300"/>
              </a:spcAft>
            </a:pPr>
            <a:r>
              <a:rPr sz="1000" b="0">
                <a:solidFill>
                  <a:srgbClr val="00C9FF"/>
                </a:solidFill>
              </a:rPr>
              <a:t>R3  [🚀 ] [💀 ] [💀 ] [   ] [   ]</a:t>
            </a:r>
          </a:p>
        </p:txBody>
      </p:sp>
      <p:sp>
        <p:nvSpPr>
          <p:cNvPr id="8" name="TextBox 7"/>
          <p:cNvSpPr txBox="1"/>
          <p:nvPr/>
        </p:nvSpPr>
        <p:spPr>
          <a:xfrm>
            <a:off x="5349240" y="4187952"/>
            <a:ext cx="3383280" cy="228600"/>
          </a:xfrm>
          <a:prstGeom prst="rect">
            <a:avLst/>
          </a:prstGeom>
          <a:noFill/>
        </p:spPr>
        <p:txBody>
          <a:bodyPr wrap="square">
            <a:spAutoFit/>
          </a:bodyPr>
          <a:lstStyle/>
          <a:p>
            <a:pPr algn="ctr"/>
            <a:r>
              <a:rPr sz="850" b="0" i="0">
                <a:solidFill>
                  <a:srgbClr val="CCD6E0"/>
                </a:solidFill>
              </a:rPr>
              <a:t>🚀 Start (3,0)  🏁 Goal (0,3)  ⭐ +Reward  💀 −Trap</a:t>
            </a:r>
          </a:p>
        </p:txBody>
      </p:sp>
      <p:sp>
        <p:nvSpPr>
          <p:cNvPr id="9" name="Rectangle 8"/>
          <p:cNvSpPr/>
          <p:nvPr/>
        </p:nvSpPr>
        <p:spPr>
          <a:xfrm>
            <a:off x="411480" y="3063240"/>
            <a:ext cx="4754880" cy="475488"/>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3063240"/>
            <a:ext cx="64008" cy="475488"/>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3108960"/>
            <a:ext cx="1463040" cy="384048"/>
          </a:xfrm>
          <a:prstGeom prst="rect">
            <a:avLst/>
          </a:prstGeom>
          <a:noFill/>
        </p:spPr>
        <p:txBody>
          <a:bodyPr wrap="square">
            <a:spAutoFit/>
          </a:bodyPr>
          <a:lstStyle/>
          <a:p>
            <a:pPr algn="l"/>
            <a:r>
              <a:rPr sz="1150" b="1" i="0">
                <a:solidFill>
                  <a:srgbClr val="00C9FF"/>
                </a:solidFill>
              </a:rPr>
              <a:t>Fully Observable</a:t>
            </a:r>
          </a:p>
        </p:txBody>
      </p:sp>
      <p:sp>
        <p:nvSpPr>
          <p:cNvPr id="12" name="TextBox 11"/>
          <p:cNvSpPr txBox="1"/>
          <p:nvPr/>
        </p:nvSpPr>
        <p:spPr>
          <a:xfrm>
            <a:off x="2084831" y="3108960"/>
            <a:ext cx="2971800" cy="384048"/>
          </a:xfrm>
          <a:prstGeom prst="rect">
            <a:avLst/>
          </a:prstGeom>
          <a:noFill/>
        </p:spPr>
        <p:txBody>
          <a:bodyPr wrap="square">
            <a:spAutoFit/>
          </a:bodyPr>
          <a:lstStyle/>
          <a:p>
            <a:pPr algn="l"/>
            <a:r>
              <a:rPr sz="1100" b="0" i="0">
                <a:solidFill>
                  <a:srgbClr val="CCD6E0"/>
                </a:solidFill>
              </a:rPr>
              <a:t>Agent always knows its exact (row,col)</a:t>
            </a:r>
          </a:p>
        </p:txBody>
      </p:sp>
      <p:sp>
        <p:nvSpPr>
          <p:cNvPr id="13" name="Rectangle 12"/>
          <p:cNvSpPr/>
          <p:nvPr/>
        </p:nvSpPr>
        <p:spPr>
          <a:xfrm>
            <a:off x="411480" y="3593592"/>
            <a:ext cx="4754880" cy="475488"/>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 y="3593592"/>
            <a:ext cx="64008" cy="47548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3639312"/>
            <a:ext cx="1463040" cy="384048"/>
          </a:xfrm>
          <a:prstGeom prst="rect">
            <a:avLst/>
          </a:prstGeom>
          <a:noFill/>
        </p:spPr>
        <p:txBody>
          <a:bodyPr wrap="square">
            <a:spAutoFit/>
          </a:bodyPr>
          <a:lstStyle/>
          <a:p>
            <a:pPr algn="l"/>
            <a:r>
              <a:rPr sz="1150" b="1" i="0">
                <a:solidFill>
                  <a:srgbClr val="F39C12"/>
                </a:solidFill>
              </a:rPr>
              <a:t>Deterministic</a:t>
            </a:r>
          </a:p>
        </p:txBody>
      </p:sp>
      <p:sp>
        <p:nvSpPr>
          <p:cNvPr id="16" name="TextBox 15"/>
          <p:cNvSpPr txBox="1"/>
          <p:nvPr/>
        </p:nvSpPr>
        <p:spPr>
          <a:xfrm>
            <a:off x="2084831" y="3639312"/>
            <a:ext cx="2971800" cy="384048"/>
          </a:xfrm>
          <a:prstGeom prst="rect">
            <a:avLst/>
          </a:prstGeom>
          <a:noFill/>
        </p:spPr>
        <p:txBody>
          <a:bodyPr wrap="square">
            <a:spAutoFit/>
          </a:bodyPr>
          <a:lstStyle/>
          <a:p>
            <a:pPr algn="l"/>
            <a:r>
              <a:rPr sz="1100" b="0" i="0">
                <a:solidFill>
                  <a:srgbClr val="CCD6E0"/>
                </a:solidFill>
              </a:rPr>
              <a:t>Same action → same next state always</a:t>
            </a:r>
          </a:p>
        </p:txBody>
      </p:sp>
      <p:sp>
        <p:nvSpPr>
          <p:cNvPr id="17" name="Rectangle 16"/>
          <p:cNvSpPr/>
          <p:nvPr/>
        </p:nvSpPr>
        <p:spPr>
          <a:xfrm>
            <a:off x="411480" y="4123944"/>
            <a:ext cx="4754880" cy="475488"/>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480" y="4123944"/>
            <a:ext cx="64008" cy="47548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4169663"/>
            <a:ext cx="1463040" cy="384048"/>
          </a:xfrm>
          <a:prstGeom prst="rect">
            <a:avLst/>
          </a:prstGeom>
          <a:noFill/>
        </p:spPr>
        <p:txBody>
          <a:bodyPr wrap="square">
            <a:spAutoFit/>
          </a:bodyPr>
          <a:lstStyle/>
          <a:p>
            <a:pPr algn="l"/>
            <a:r>
              <a:rPr sz="1150" b="1" i="0">
                <a:solidFill>
                  <a:srgbClr val="1B6CA8"/>
                </a:solidFill>
              </a:rPr>
              <a:t>Episodic</a:t>
            </a:r>
          </a:p>
        </p:txBody>
      </p:sp>
      <p:sp>
        <p:nvSpPr>
          <p:cNvPr id="20" name="TextBox 19"/>
          <p:cNvSpPr txBox="1"/>
          <p:nvPr/>
        </p:nvSpPr>
        <p:spPr>
          <a:xfrm>
            <a:off x="2084831" y="4169663"/>
            <a:ext cx="2971800" cy="384048"/>
          </a:xfrm>
          <a:prstGeom prst="rect">
            <a:avLst/>
          </a:prstGeom>
          <a:noFill/>
        </p:spPr>
        <p:txBody>
          <a:bodyPr wrap="square">
            <a:spAutoFit/>
          </a:bodyPr>
          <a:lstStyle/>
          <a:p>
            <a:pPr algn="l"/>
            <a:r>
              <a:rPr sz="1100" b="0" i="0">
                <a:solidFill>
                  <a:srgbClr val="CCD6E0"/>
                </a:solidFill>
              </a:rPr>
              <a:t>Each run is independent; resets to start</a:t>
            </a:r>
          </a:p>
        </p:txBody>
      </p:sp>
      <p:sp>
        <p:nvSpPr>
          <p:cNvPr id="21" name="Rectangle 20"/>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Reward &amp; Punishment Signals</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804672"/>
            <a:ext cx="8321040" cy="347472"/>
          </a:xfrm>
          <a:prstGeom prst="rect">
            <a:avLst/>
          </a:prstGeom>
          <a:noFill/>
        </p:spPr>
        <p:txBody>
          <a:bodyPr wrap="square">
            <a:spAutoFit/>
          </a:bodyPr>
          <a:lstStyle/>
          <a:p>
            <a:pPr algn="l"/>
            <a:r>
              <a:rPr sz="1250" b="0" i="1">
                <a:solidFill>
                  <a:srgbClr val="CCD6E0"/>
                </a:solidFill>
              </a:rPr>
              <a:t>The feedback mechanism that guides the agent's policy</a:t>
            </a:r>
          </a:p>
        </p:txBody>
      </p:sp>
      <p:sp>
        <p:nvSpPr>
          <p:cNvPr id="6" name="TextBox 5"/>
          <p:cNvSpPr txBox="1"/>
          <p:nvPr/>
        </p:nvSpPr>
        <p:spPr>
          <a:xfrm>
            <a:off x="411480" y="914400"/>
            <a:ext cx="8321040" cy="1783080"/>
          </a:xfrm>
          <a:prstGeom prst="rect">
            <a:avLst/>
          </a:prstGeom>
          <a:noFill/>
        </p:spPr>
        <p:txBody>
          <a:bodyPr wrap="square">
            <a:spAutoFit/>
          </a:bodyPr>
          <a:lstStyle/>
          <a:p>
            <a:pPr algn="l"/>
            <a:r>
              <a:rPr sz="1250" b="0" i="0">
                <a:solidFill>
                  <a:srgbClr val="CCD6E0"/>
                </a:solidFill>
              </a:rPr>
              <a:t>In Reinforcement Learning, the reward signal is the only feedback the agent receives from the environment — it tells the agent how good or bad its last action was. In Man in Maze, positive reward cells encourage the agent to pass through certain routes, while punishment cells deliver a strong negative signal by forcing a complete episode reset. The absence of reward in neutral cells is a zero signal — no reinforcement in either direction. The agent's goal is to maximise cumulative reward across the episode by reaching the goal.</a:t>
            </a:r>
          </a:p>
        </p:txBody>
      </p:sp>
      <p:sp>
        <p:nvSpPr>
          <p:cNvPr id="7" name="Rectangle 6"/>
          <p:cNvSpPr/>
          <p:nvPr/>
        </p:nvSpPr>
        <p:spPr>
          <a:xfrm>
            <a:off x="411480" y="2743200"/>
            <a:ext cx="2697480" cy="1920240"/>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2743200"/>
            <a:ext cx="2697480"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 y="2834640"/>
            <a:ext cx="2487168" cy="384048"/>
          </a:xfrm>
          <a:prstGeom prst="rect">
            <a:avLst/>
          </a:prstGeom>
          <a:noFill/>
        </p:spPr>
        <p:txBody>
          <a:bodyPr wrap="square">
            <a:spAutoFit/>
          </a:bodyPr>
          <a:lstStyle/>
          <a:p>
            <a:pPr algn="l"/>
            <a:r>
              <a:rPr sz="1150" b="1" i="0">
                <a:solidFill>
                  <a:srgbClr val="2ECC71"/>
                </a:solidFill>
              </a:rPr>
              <a:t>⭐  POSITIVE REWARD</a:t>
            </a:r>
          </a:p>
        </p:txBody>
      </p:sp>
      <p:sp>
        <p:nvSpPr>
          <p:cNvPr id="10" name="TextBox 9"/>
          <p:cNvSpPr txBox="1"/>
          <p:nvPr/>
        </p:nvSpPr>
        <p:spPr>
          <a:xfrm>
            <a:off x="521208" y="3200400"/>
            <a:ext cx="2487168" cy="292608"/>
          </a:xfrm>
          <a:prstGeom prst="rect">
            <a:avLst/>
          </a:prstGeom>
          <a:noFill/>
        </p:spPr>
        <p:txBody>
          <a:bodyPr wrap="square">
            <a:spAutoFit/>
          </a:bodyPr>
          <a:lstStyle/>
          <a:p>
            <a:pPr algn="l"/>
            <a:r>
              <a:rPr sz="1000" b="1" i="0">
                <a:solidFill>
                  <a:srgbClr val="00C9FF"/>
                </a:solidFill>
              </a:rPr>
              <a:t>Cells: (2,2)  and  (0,3)</a:t>
            </a:r>
          </a:p>
        </p:txBody>
      </p:sp>
      <p:sp>
        <p:nvSpPr>
          <p:cNvPr id="11" name="TextBox 10"/>
          <p:cNvSpPr txBox="1"/>
          <p:nvPr/>
        </p:nvSpPr>
        <p:spPr>
          <a:xfrm>
            <a:off x="521208" y="3493008"/>
            <a:ext cx="2487168" cy="1097280"/>
          </a:xfrm>
          <a:prstGeom prst="rect">
            <a:avLst/>
          </a:prstGeom>
          <a:noFill/>
        </p:spPr>
        <p:txBody>
          <a:bodyPr wrap="square">
            <a:spAutoFit/>
          </a:bodyPr>
          <a:lstStyle/>
          <a:p>
            <a:pPr algn="l"/>
            <a:r>
              <a:rPr sz="1000" b="0" i="0">
                <a:solidFill>
                  <a:srgbClr val="CCD6E0"/>
                </a:solidFill>
              </a:rPr>
              <a:t>Agent is rewarded for entering these cells. Encourages the policy to route through them. The goal cell (0,3) is both a reward and the terminal state — it ends the episode.</a:t>
            </a:r>
          </a:p>
        </p:txBody>
      </p:sp>
      <p:sp>
        <p:nvSpPr>
          <p:cNvPr id="12" name="Rectangle 11"/>
          <p:cNvSpPr/>
          <p:nvPr/>
        </p:nvSpPr>
        <p:spPr>
          <a:xfrm>
            <a:off x="3246120" y="2743200"/>
            <a:ext cx="2697480" cy="1920240"/>
          </a:xfrm>
          <a:prstGeom prst="rect">
            <a:avLst/>
          </a:prstGeom>
          <a:solidFill>
            <a:srgbClr val="132A40"/>
          </a:solidFill>
          <a:ln w="1016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2743200"/>
            <a:ext cx="2697480"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55848" y="2834640"/>
            <a:ext cx="2487168" cy="384048"/>
          </a:xfrm>
          <a:prstGeom prst="rect">
            <a:avLst/>
          </a:prstGeom>
          <a:noFill/>
        </p:spPr>
        <p:txBody>
          <a:bodyPr wrap="square">
            <a:spAutoFit/>
          </a:bodyPr>
          <a:lstStyle/>
          <a:p>
            <a:pPr algn="l"/>
            <a:r>
              <a:rPr sz="1150" b="1" i="0">
                <a:solidFill>
                  <a:srgbClr val="E74C3C"/>
                </a:solidFill>
              </a:rPr>
              <a:t>💀  PUNISHMENT  (−)</a:t>
            </a:r>
          </a:p>
        </p:txBody>
      </p:sp>
      <p:sp>
        <p:nvSpPr>
          <p:cNvPr id="15" name="TextBox 14"/>
          <p:cNvSpPr txBox="1"/>
          <p:nvPr/>
        </p:nvSpPr>
        <p:spPr>
          <a:xfrm>
            <a:off x="3355848" y="3200400"/>
            <a:ext cx="2487168" cy="292608"/>
          </a:xfrm>
          <a:prstGeom prst="rect">
            <a:avLst/>
          </a:prstGeom>
          <a:noFill/>
        </p:spPr>
        <p:txBody>
          <a:bodyPr wrap="square">
            <a:spAutoFit/>
          </a:bodyPr>
          <a:lstStyle/>
          <a:p>
            <a:pPr algn="l"/>
            <a:r>
              <a:rPr sz="1000" b="1" i="0">
                <a:solidFill>
                  <a:srgbClr val="00C9FF"/>
                </a:solidFill>
              </a:rPr>
              <a:t>Cells: (1,1) (1,2) (3,1) (3,2) (2,3)</a:t>
            </a:r>
          </a:p>
        </p:txBody>
      </p:sp>
      <p:sp>
        <p:nvSpPr>
          <p:cNvPr id="16" name="TextBox 15"/>
          <p:cNvSpPr txBox="1"/>
          <p:nvPr/>
        </p:nvSpPr>
        <p:spPr>
          <a:xfrm>
            <a:off x="3355848" y="3493008"/>
            <a:ext cx="2487168" cy="1097280"/>
          </a:xfrm>
          <a:prstGeom prst="rect">
            <a:avLst/>
          </a:prstGeom>
          <a:noFill/>
        </p:spPr>
        <p:txBody>
          <a:bodyPr wrap="square">
            <a:spAutoFit/>
          </a:bodyPr>
          <a:lstStyle/>
          <a:p>
            <a:pPr algn="l"/>
            <a:r>
              <a:rPr sz="1000" b="0" i="0">
                <a:solidFill>
                  <a:srgbClr val="CCD6E0"/>
                </a:solidFill>
              </a:rPr>
              <a:t>Entering any trap cell delivers a negative signal. The action that caused entry is permanently blacklisted in the policy. The episode resets to the start state.</a:t>
            </a:r>
          </a:p>
        </p:txBody>
      </p:sp>
      <p:sp>
        <p:nvSpPr>
          <p:cNvPr id="17" name="Rectangle 16"/>
          <p:cNvSpPr/>
          <p:nvPr/>
        </p:nvSpPr>
        <p:spPr>
          <a:xfrm>
            <a:off x="6080760" y="2743200"/>
            <a:ext cx="2697480" cy="192024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0760" y="2743200"/>
            <a:ext cx="2697480" cy="6400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90488" y="2834640"/>
            <a:ext cx="2487168" cy="384048"/>
          </a:xfrm>
          <a:prstGeom prst="rect">
            <a:avLst/>
          </a:prstGeom>
          <a:noFill/>
        </p:spPr>
        <p:txBody>
          <a:bodyPr wrap="square">
            <a:spAutoFit/>
          </a:bodyPr>
          <a:lstStyle/>
          <a:p>
            <a:pPr algn="l"/>
            <a:r>
              <a:rPr sz="1150" b="1" i="0">
                <a:solidFill>
                  <a:srgbClr val="1B6CA8"/>
                </a:solidFill>
              </a:rPr>
              <a:t>⬜  ZERO SIGNAL</a:t>
            </a:r>
          </a:p>
        </p:txBody>
      </p:sp>
      <p:sp>
        <p:nvSpPr>
          <p:cNvPr id="20" name="TextBox 19"/>
          <p:cNvSpPr txBox="1"/>
          <p:nvPr/>
        </p:nvSpPr>
        <p:spPr>
          <a:xfrm>
            <a:off x="6190488" y="3200400"/>
            <a:ext cx="2487168" cy="292608"/>
          </a:xfrm>
          <a:prstGeom prst="rect">
            <a:avLst/>
          </a:prstGeom>
          <a:noFill/>
        </p:spPr>
        <p:txBody>
          <a:bodyPr wrap="square">
            <a:spAutoFit/>
          </a:bodyPr>
          <a:lstStyle/>
          <a:p>
            <a:pPr algn="l"/>
            <a:r>
              <a:rPr sz="1000" b="1" i="0">
                <a:solidFill>
                  <a:srgbClr val="00C9FF"/>
                </a:solidFill>
              </a:rPr>
              <a:t>All remaining neutral cells</a:t>
            </a:r>
          </a:p>
        </p:txBody>
      </p:sp>
      <p:sp>
        <p:nvSpPr>
          <p:cNvPr id="21" name="TextBox 20"/>
          <p:cNvSpPr txBox="1"/>
          <p:nvPr/>
        </p:nvSpPr>
        <p:spPr>
          <a:xfrm>
            <a:off x="6190488" y="3493008"/>
            <a:ext cx="2487168" cy="1097280"/>
          </a:xfrm>
          <a:prstGeom prst="rect">
            <a:avLst/>
          </a:prstGeom>
          <a:noFill/>
        </p:spPr>
        <p:txBody>
          <a:bodyPr wrap="square">
            <a:spAutoFit/>
          </a:bodyPr>
          <a:lstStyle/>
          <a:p>
            <a:pPr algn="l"/>
            <a:r>
              <a:rPr sz="1000" b="0" i="0">
                <a:solidFill>
                  <a:srgbClr val="CCD6E0"/>
                </a:solidFill>
              </a:rPr>
              <a:t>No reward or penalty. The agent is neither encouraged nor discouraged — it simply moves through these cells as part of finding the optimal path.</a:t>
            </a:r>
          </a:p>
        </p:txBody>
      </p:sp>
      <p:sp>
        <p:nvSpPr>
          <p:cNvPr id="22" name="Rectangle 21"/>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RL Algorithm — Deep Dive</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804672"/>
            <a:ext cx="8321040" cy="347472"/>
          </a:xfrm>
          <a:prstGeom prst="rect">
            <a:avLst/>
          </a:prstGeom>
          <a:noFill/>
        </p:spPr>
        <p:txBody>
          <a:bodyPr wrap="square">
            <a:spAutoFit/>
          </a:bodyPr>
          <a:lstStyle/>
          <a:p>
            <a:pPr algn="l"/>
            <a:r>
              <a:rPr sz="1250" b="0" i="1">
                <a:solidFill>
                  <a:srgbClr val="CCD6E0"/>
                </a:solidFill>
              </a:rPr>
              <a:t>Recursive depth-first search with policy-guided pruning</a:t>
            </a:r>
          </a:p>
        </p:txBody>
      </p:sp>
      <p:sp>
        <p:nvSpPr>
          <p:cNvPr id="6" name="TextBox 5"/>
          <p:cNvSpPr txBox="1"/>
          <p:nvPr/>
        </p:nvSpPr>
        <p:spPr>
          <a:xfrm>
            <a:off x="411480" y="914400"/>
            <a:ext cx="8321040" cy="1737360"/>
          </a:xfrm>
          <a:prstGeom prst="rect">
            <a:avLst/>
          </a:prstGeom>
          <a:noFill/>
        </p:spPr>
        <p:txBody>
          <a:bodyPr wrap="square">
            <a:spAutoFit/>
          </a:bodyPr>
          <a:lstStyle/>
          <a:p>
            <a:pPr algn="l"/>
            <a:r>
              <a:rPr sz="1250" b="0" i="0">
                <a:solidFill>
                  <a:srgbClr val="CCD6E0"/>
                </a:solidFill>
              </a:rPr>
              <a:t>The algorithm implements a model-free, episodic RL approach using recursive depth-first exploration. The agent has no prior knowledge of the environment — it learns purely by interacting with it. Each recursive call represents one state transition. The agent always tries actions in priority order (→ ← ↓ ↑), skipping any that the policy (experience list) has marked as invalid. On receiving a negative reward (trap), it updates the policy and starts a new episode. On reaching the goal, it returns the learned path.</a:t>
            </a:r>
          </a:p>
        </p:txBody>
      </p:sp>
      <p:sp>
        <p:nvSpPr>
          <p:cNvPr id="7" name="Rectangle 6"/>
          <p:cNvSpPr/>
          <p:nvPr/>
        </p:nvSpPr>
        <p:spPr>
          <a:xfrm>
            <a:off x="384048" y="2743200"/>
            <a:ext cx="1353312" cy="1828800"/>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4048" y="2743200"/>
            <a:ext cx="1353312" cy="64008"/>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 y="2834640"/>
            <a:ext cx="1261872" cy="502920"/>
          </a:xfrm>
          <a:prstGeom prst="rect">
            <a:avLst/>
          </a:prstGeom>
          <a:noFill/>
        </p:spPr>
        <p:txBody>
          <a:bodyPr wrap="square">
            <a:spAutoFit/>
          </a:bodyPr>
          <a:lstStyle/>
          <a:p>
            <a:pPr algn="ctr"/>
            <a:r>
              <a:rPr sz="2200" b="1" i="0">
                <a:solidFill>
                  <a:srgbClr val="00C9FF"/>
                </a:solidFill>
              </a:rPr>
              <a:t>S₀</a:t>
            </a:r>
          </a:p>
        </p:txBody>
      </p:sp>
      <p:sp>
        <p:nvSpPr>
          <p:cNvPr id="10" name="TextBox 9"/>
          <p:cNvSpPr txBox="1"/>
          <p:nvPr/>
        </p:nvSpPr>
        <p:spPr>
          <a:xfrm>
            <a:off x="429768" y="3337560"/>
            <a:ext cx="1261872" cy="384048"/>
          </a:xfrm>
          <a:prstGeom prst="rect">
            <a:avLst/>
          </a:prstGeom>
          <a:noFill/>
        </p:spPr>
        <p:txBody>
          <a:bodyPr wrap="square">
            <a:spAutoFit/>
          </a:bodyPr>
          <a:lstStyle/>
          <a:p>
            <a:pPr algn="ctr"/>
            <a:r>
              <a:rPr sz="950" b="1" i="0">
                <a:solidFill>
                  <a:srgbClr val="FFFFFF"/>
                </a:solidFill>
              </a:rPr>
              <a:t>Start State</a:t>
            </a:r>
          </a:p>
        </p:txBody>
      </p:sp>
      <p:sp>
        <p:nvSpPr>
          <p:cNvPr id="11" name="TextBox 10"/>
          <p:cNvSpPr txBox="1"/>
          <p:nvPr/>
        </p:nvSpPr>
        <p:spPr>
          <a:xfrm>
            <a:off x="429768" y="3721608"/>
            <a:ext cx="1261872" cy="777240"/>
          </a:xfrm>
          <a:prstGeom prst="rect">
            <a:avLst/>
          </a:prstGeom>
          <a:noFill/>
        </p:spPr>
        <p:txBody>
          <a:bodyPr wrap="square">
            <a:spAutoFit/>
          </a:bodyPr>
          <a:lstStyle/>
          <a:p>
            <a:pPr algn="ctr"/>
            <a:r>
              <a:rPr sz="900" b="0" i="0">
                <a:solidFill>
                  <a:srgbClr val="CCD6E0"/>
                </a:solidFill>
              </a:rPr>
              <a:t>Initialise at (3,0). Clear path. Begin episode.</a:t>
            </a:r>
          </a:p>
        </p:txBody>
      </p:sp>
      <p:sp>
        <p:nvSpPr>
          <p:cNvPr id="12" name="Rectangle 11"/>
          <p:cNvSpPr/>
          <p:nvPr/>
        </p:nvSpPr>
        <p:spPr>
          <a:xfrm>
            <a:off x="1847088" y="2743200"/>
            <a:ext cx="1353312" cy="1828800"/>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47088" y="2743200"/>
            <a:ext cx="1353312" cy="640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92807" y="2834640"/>
            <a:ext cx="1261872" cy="502920"/>
          </a:xfrm>
          <a:prstGeom prst="rect">
            <a:avLst/>
          </a:prstGeom>
          <a:noFill/>
        </p:spPr>
        <p:txBody>
          <a:bodyPr wrap="square">
            <a:spAutoFit/>
          </a:bodyPr>
          <a:lstStyle/>
          <a:p>
            <a:pPr algn="ctr"/>
            <a:r>
              <a:rPr sz="2200" b="1" i="0">
                <a:solidFill>
                  <a:srgbClr val="F39C12"/>
                </a:solidFill>
              </a:rPr>
              <a:t>A</a:t>
            </a:r>
          </a:p>
        </p:txBody>
      </p:sp>
      <p:sp>
        <p:nvSpPr>
          <p:cNvPr id="15" name="TextBox 14"/>
          <p:cNvSpPr txBox="1"/>
          <p:nvPr/>
        </p:nvSpPr>
        <p:spPr>
          <a:xfrm>
            <a:off x="1892807" y="3337560"/>
            <a:ext cx="1261872" cy="384048"/>
          </a:xfrm>
          <a:prstGeom prst="rect">
            <a:avLst/>
          </a:prstGeom>
          <a:noFill/>
        </p:spPr>
        <p:txBody>
          <a:bodyPr wrap="square">
            <a:spAutoFit/>
          </a:bodyPr>
          <a:lstStyle/>
          <a:p>
            <a:pPr algn="ctr"/>
            <a:r>
              <a:rPr sz="950" b="1" i="0">
                <a:solidFill>
                  <a:srgbClr val="FFFFFF"/>
                </a:solidFill>
              </a:rPr>
              <a:t>Action Selection</a:t>
            </a:r>
          </a:p>
        </p:txBody>
      </p:sp>
      <p:sp>
        <p:nvSpPr>
          <p:cNvPr id="16" name="TextBox 15"/>
          <p:cNvSpPr txBox="1"/>
          <p:nvPr/>
        </p:nvSpPr>
        <p:spPr>
          <a:xfrm>
            <a:off x="1892807" y="3721608"/>
            <a:ext cx="1261872" cy="777240"/>
          </a:xfrm>
          <a:prstGeom prst="rect">
            <a:avLst/>
          </a:prstGeom>
          <a:noFill/>
        </p:spPr>
        <p:txBody>
          <a:bodyPr wrap="square">
            <a:spAutoFit/>
          </a:bodyPr>
          <a:lstStyle/>
          <a:p>
            <a:pPr algn="ctr"/>
            <a:r>
              <a:rPr sz="900" b="0" i="0">
                <a:solidFill>
                  <a:srgbClr val="CCD6E0"/>
                </a:solidFill>
              </a:rPr>
              <a:t>Consult policy. Pick first non-blacklisted action.</a:t>
            </a:r>
          </a:p>
        </p:txBody>
      </p:sp>
      <p:sp>
        <p:nvSpPr>
          <p:cNvPr id="17" name="Rectangle 16"/>
          <p:cNvSpPr/>
          <p:nvPr/>
        </p:nvSpPr>
        <p:spPr>
          <a:xfrm>
            <a:off x="3310128" y="2743200"/>
            <a:ext cx="1353312" cy="182880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10128" y="2743200"/>
            <a:ext cx="1353312" cy="6400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55848" y="2834640"/>
            <a:ext cx="1261872" cy="502920"/>
          </a:xfrm>
          <a:prstGeom prst="rect">
            <a:avLst/>
          </a:prstGeom>
          <a:noFill/>
        </p:spPr>
        <p:txBody>
          <a:bodyPr wrap="square">
            <a:spAutoFit/>
          </a:bodyPr>
          <a:lstStyle/>
          <a:p>
            <a:pPr algn="ctr"/>
            <a:r>
              <a:rPr sz="2200" b="1" i="0">
                <a:solidFill>
                  <a:srgbClr val="1B6CA8"/>
                </a:solidFill>
              </a:rPr>
              <a:t>T</a:t>
            </a:r>
          </a:p>
        </p:txBody>
      </p:sp>
      <p:sp>
        <p:nvSpPr>
          <p:cNvPr id="20" name="TextBox 19"/>
          <p:cNvSpPr txBox="1"/>
          <p:nvPr/>
        </p:nvSpPr>
        <p:spPr>
          <a:xfrm>
            <a:off x="3355848" y="3337560"/>
            <a:ext cx="1261872" cy="384048"/>
          </a:xfrm>
          <a:prstGeom prst="rect">
            <a:avLst/>
          </a:prstGeom>
          <a:noFill/>
        </p:spPr>
        <p:txBody>
          <a:bodyPr wrap="square">
            <a:spAutoFit/>
          </a:bodyPr>
          <a:lstStyle/>
          <a:p>
            <a:pPr algn="ctr"/>
            <a:r>
              <a:rPr sz="950" b="1" i="0">
                <a:solidFill>
                  <a:srgbClr val="FFFFFF"/>
                </a:solidFill>
              </a:rPr>
              <a:t>Transition</a:t>
            </a:r>
          </a:p>
        </p:txBody>
      </p:sp>
      <p:sp>
        <p:nvSpPr>
          <p:cNvPr id="21" name="TextBox 20"/>
          <p:cNvSpPr txBox="1"/>
          <p:nvPr/>
        </p:nvSpPr>
        <p:spPr>
          <a:xfrm>
            <a:off x="3355848" y="3721608"/>
            <a:ext cx="1261872" cy="777240"/>
          </a:xfrm>
          <a:prstGeom prst="rect">
            <a:avLst/>
          </a:prstGeom>
          <a:noFill/>
        </p:spPr>
        <p:txBody>
          <a:bodyPr wrap="square">
            <a:spAutoFit/>
          </a:bodyPr>
          <a:lstStyle/>
          <a:p>
            <a:pPr algn="ctr"/>
            <a:r>
              <a:rPr sz="900" b="0" i="0">
                <a:solidFill>
                  <a:srgbClr val="CCD6E0"/>
                </a:solidFill>
              </a:rPr>
              <a:t>Move to next state (row±1, col±1). Update path.</a:t>
            </a:r>
          </a:p>
        </p:txBody>
      </p:sp>
      <p:sp>
        <p:nvSpPr>
          <p:cNvPr id="22" name="Rectangle 21"/>
          <p:cNvSpPr/>
          <p:nvPr/>
        </p:nvSpPr>
        <p:spPr>
          <a:xfrm>
            <a:off x="4773168" y="2743200"/>
            <a:ext cx="1353312" cy="1828800"/>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73168" y="2743200"/>
            <a:ext cx="1353312"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18888" y="2834640"/>
            <a:ext cx="1261872" cy="502920"/>
          </a:xfrm>
          <a:prstGeom prst="rect">
            <a:avLst/>
          </a:prstGeom>
          <a:noFill/>
        </p:spPr>
        <p:txBody>
          <a:bodyPr wrap="square">
            <a:spAutoFit/>
          </a:bodyPr>
          <a:lstStyle/>
          <a:p>
            <a:pPr algn="ctr"/>
            <a:r>
              <a:rPr sz="2200" b="1" i="0">
                <a:solidFill>
                  <a:srgbClr val="2ECC71"/>
                </a:solidFill>
              </a:rPr>
              <a:t>R</a:t>
            </a:r>
          </a:p>
        </p:txBody>
      </p:sp>
      <p:sp>
        <p:nvSpPr>
          <p:cNvPr id="25" name="TextBox 24"/>
          <p:cNvSpPr txBox="1"/>
          <p:nvPr/>
        </p:nvSpPr>
        <p:spPr>
          <a:xfrm>
            <a:off x="4818888" y="3337560"/>
            <a:ext cx="1261872" cy="384048"/>
          </a:xfrm>
          <a:prstGeom prst="rect">
            <a:avLst/>
          </a:prstGeom>
          <a:noFill/>
        </p:spPr>
        <p:txBody>
          <a:bodyPr wrap="square">
            <a:spAutoFit/>
          </a:bodyPr>
          <a:lstStyle/>
          <a:p>
            <a:pPr algn="ctr"/>
            <a:r>
              <a:rPr sz="950" b="1" i="0">
                <a:solidFill>
                  <a:srgbClr val="FFFFFF"/>
                </a:solidFill>
              </a:rPr>
              <a:t>Reward Signal</a:t>
            </a:r>
          </a:p>
        </p:txBody>
      </p:sp>
      <p:sp>
        <p:nvSpPr>
          <p:cNvPr id="26" name="TextBox 25"/>
          <p:cNvSpPr txBox="1"/>
          <p:nvPr/>
        </p:nvSpPr>
        <p:spPr>
          <a:xfrm>
            <a:off x="4818888" y="3721608"/>
            <a:ext cx="1261872" cy="777240"/>
          </a:xfrm>
          <a:prstGeom prst="rect">
            <a:avLst/>
          </a:prstGeom>
          <a:noFill/>
        </p:spPr>
        <p:txBody>
          <a:bodyPr wrap="square">
            <a:spAutoFit/>
          </a:bodyPr>
          <a:lstStyle/>
          <a:p>
            <a:pPr algn="ctr"/>
            <a:r>
              <a:rPr sz="900" b="0" i="0">
                <a:solidFill>
                  <a:srgbClr val="CCD6E0"/>
                </a:solidFill>
              </a:rPr>
              <a:t>+reward, −punishment, or 0 neutral signal.</a:t>
            </a:r>
          </a:p>
        </p:txBody>
      </p:sp>
      <p:sp>
        <p:nvSpPr>
          <p:cNvPr id="27" name="Rectangle 26"/>
          <p:cNvSpPr/>
          <p:nvPr/>
        </p:nvSpPr>
        <p:spPr>
          <a:xfrm>
            <a:off x="6236208" y="2743200"/>
            <a:ext cx="1353312" cy="1828800"/>
          </a:xfrm>
          <a:prstGeom prst="rect">
            <a:avLst/>
          </a:prstGeom>
          <a:solidFill>
            <a:srgbClr val="132A40"/>
          </a:solidFill>
          <a:ln w="1016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743200"/>
            <a:ext cx="1353312" cy="6400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81928" y="2834640"/>
            <a:ext cx="1261872" cy="502920"/>
          </a:xfrm>
          <a:prstGeom prst="rect">
            <a:avLst/>
          </a:prstGeom>
          <a:noFill/>
        </p:spPr>
        <p:txBody>
          <a:bodyPr wrap="square">
            <a:spAutoFit/>
          </a:bodyPr>
          <a:lstStyle/>
          <a:p>
            <a:pPr algn="ctr"/>
            <a:r>
              <a:rPr sz="2200" b="1" i="0">
                <a:solidFill>
                  <a:srgbClr val="E74C3C"/>
                </a:solidFill>
              </a:rPr>
              <a:t>Δπ</a:t>
            </a:r>
          </a:p>
        </p:txBody>
      </p:sp>
      <p:sp>
        <p:nvSpPr>
          <p:cNvPr id="30" name="TextBox 29"/>
          <p:cNvSpPr txBox="1"/>
          <p:nvPr/>
        </p:nvSpPr>
        <p:spPr>
          <a:xfrm>
            <a:off x="6281928" y="3337560"/>
            <a:ext cx="1261872" cy="384048"/>
          </a:xfrm>
          <a:prstGeom prst="rect">
            <a:avLst/>
          </a:prstGeom>
          <a:noFill/>
        </p:spPr>
        <p:txBody>
          <a:bodyPr wrap="square">
            <a:spAutoFit/>
          </a:bodyPr>
          <a:lstStyle/>
          <a:p>
            <a:pPr algn="ctr"/>
            <a:r>
              <a:rPr sz="950" b="1" i="0">
                <a:solidFill>
                  <a:srgbClr val="FFFFFF"/>
                </a:solidFill>
              </a:rPr>
              <a:t>Policy Update</a:t>
            </a:r>
          </a:p>
        </p:txBody>
      </p:sp>
      <p:sp>
        <p:nvSpPr>
          <p:cNvPr id="31" name="TextBox 30"/>
          <p:cNvSpPr txBox="1"/>
          <p:nvPr/>
        </p:nvSpPr>
        <p:spPr>
          <a:xfrm>
            <a:off x="6281928" y="3721608"/>
            <a:ext cx="1261872" cy="777240"/>
          </a:xfrm>
          <a:prstGeom prst="rect">
            <a:avLst/>
          </a:prstGeom>
          <a:noFill/>
        </p:spPr>
        <p:txBody>
          <a:bodyPr wrap="square">
            <a:spAutoFit/>
          </a:bodyPr>
          <a:lstStyle/>
          <a:p>
            <a:pPr algn="ctr"/>
            <a:r>
              <a:rPr sz="900" b="0" i="0">
                <a:solidFill>
                  <a:srgbClr val="CCD6E0"/>
                </a:solidFill>
              </a:rPr>
              <a:t>If trap/stuck: add (s,a) to experience. Reset.</a:t>
            </a:r>
          </a:p>
        </p:txBody>
      </p:sp>
      <p:sp>
        <p:nvSpPr>
          <p:cNvPr id="32" name="Rectangle 31"/>
          <p:cNvSpPr/>
          <p:nvPr/>
        </p:nvSpPr>
        <p:spPr>
          <a:xfrm>
            <a:off x="7699248" y="2743200"/>
            <a:ext cx="1353312" cy="1828800"/>
          </a:xfrm>
          <a:prstGeom prst="rect">
            <a:avLst/>
          </a:prstGeom>
          <a:solidFill>
            <a:srgbClr val="132A40"/>
          </a:solidFill>
          <a:ln w="1016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699248" y="2743200"/>
            <a:ext cx="1353312" cy="64008"/>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44968" y="2834640"/>
            <a:ext cx="1261872" cy="502920"/>
          </a:xfrm>
          <a:prstGeom prst="rect">
            <a:avLst/>
          </a:prstGeom>
          <a:noFill/>
        </p:spPr>
        <p:txBody>
          <a:bodyPr wrap="square">
            <a:spAutoFit/>
          </a:bodyPr>
          <a:lstStyle/>
          <a:p>
            <a:pPr algn="ctr"/>
            <a:r>
              <a:rPr sz="2200" b="1" i="0">
                <a:solidFill>
                  <a:srgbClr val="9B59B6"/>
                </a:solidFill>
              </a:rPr>
              <a:t>S*</a:t>
            </a:r>
          </a:p>
        </p:txBody>
      </p:sp>
      <p:sp>
        <p:nvSpPr>
          <p:cNvPr id="35" name="TextBox 34"/>
          <p:cNvSpPr txBox="1"/>
          <p:nvPr/>
        </p:nvSpPr>
        <p:spPr>
          <a:xfrm>
            <a:off x="7744968" y="3337560"/>
            <a:ext cx="1261872" cy="384048"/>
          </a:xfrm>
          <a:prstGeom prst="rect">
            <a:avLst/>
          </a:prstGeom>
          <a:noFill/>
        </p:spPr>
        <p:txBody>
          <a:bodyPr wrap="square">
            <a:spAutoFit/>
          </a:bodyPr>
          <a:lstStyle/>
          <a:p>
            <a:pPr algn="ctr"/>
            <a:r>
              <a:rPr sz="950" b="1" i="0">
                <a:solidFill>
                  <a:srgbClr val="FFFFFF"/>
                </a:solidFill>
              </a:rPr>
              <a:t>Terminal State</a:t>
            </a:r>
          </a:p>
        </p:txBody>
      </p:sp>
      <p:sp>
        <p:nvSpPr>
          <p:cNvPr id="36" name="TextBox 35"/>
          <p:cNvSpPr txBox="1"/>
          <p:nvPr/>
        </p:nvSpPr>
        <p:spPr>
          <a:xfrm>
            <a:off x="7744968" y="3721608"/>
            <a:ext cx="1261872" cy="777240"/>
          </a:xfrm>
          <a:prstGeom prst="rect">
            <a:avLst/>
          </a:prstGeom>
          <a:noFill/>
        </p:spPr>
        <p:txBody>
          <a:bodyPr wrap="square">
            <a:spAutoFit/>
          </a:bodyPr>
          <a:lstStyle/>
          <a:p>
            <a:pPr algn="ctr"/>
            <a:r>
              <a:rPr sz="900" b="0" i="0">
                <a:solidFill>
                  <a:srgbClr val="CCD6E0"/>
                </a:solidFill>
              </a:rPr>
              <a:t>Goal (0,3) reached. Return path + experience.</a:t>
            </a:r>
          </a:p>
        </p:txBody>
      </p:sp>
      <p:sp>
        <p:nvSpPr>
          <p:cNvPr id="37" name="Rectangle 36"/>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Key Features</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1480" y="960120"/>
            <a:ext cx="4160520" cy="1188720"/>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80" y="960120"/>
            <a:ext cx="64008" cy="118872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033272"/>
            <a:ext cx="3840480" cy="384048"/>
          </a:xfrm>
          <a:prstGeom prst="rect">
            <a:avLst/>
          </a:prstGeom>
          <a:noFill/>
        </p:spPr>
        <p:txBody>
          <a:bodyPr wrap="square">
            <a:spAutoFit/>
          </a:bodyPr>
          <a:lstStyle/>
          <a:p>
            <a:pPr algn="l"/>
            <a:r>
              <a:rPr sz="1300" b="1" i="0">
                <a:solidFill>
                  <a:srgbClr val="00C9FF"/>
                </a:solidFill>
              </a:rPr>
              <a:t>Model-Free RL</a:t>
            </a:r>
          </a:p>
        </p:txBody>
      </p:sp>
      <p:sp>
        <p:nvSpPr>
          <p:cNvPr id="8" name="TextBox 7"/>
          <p:cNvSpPr txBox="1"/>
          <p:nvPr/>
        </p:nvSpPr>
        <p:spPr>
          <a:xfrm>
            <a:off x="594360" y="1399032"/>
            <a:ext cx="3840480" cy="658368"/>
          </a:xfrm>
          <a:prstGeom prst="rect">
            <a:avLst/>
          </a:prstGeom>
          <a:noFill/>
        </p:spPr>
        <p:txBody>
          <a:bodyPr wrap="square">
            <a:spAutoFit/>
          </a:bodyPr>
          <a:lstStyle/>
          <a:p>
            <a:pPr algn="l"/>
            <a:r>
              <a:rPr sz="1100" b="0" i="0">
                <a:solidFill>
                  <a:srgbClr val="CCD6E0"/>
                </a:solidFill>
              </a:rPr>
              <a:t>No environment model is pre-loaded. The agent learns purely from interaction and reward signals.</a:t>
            </a:r>
          </a:p>
        </p:txBody>
      </p:sp>
      <p:sp>
        <p:nvSpPr>
          <p:cNvPr id="9" name="Rectangle 8"/>
          <p:cNvSpPr/>
          <p:nvPr/>
        </p:nvSpPr>
        <p:spPr>
          <a:xfrm>
            <a:off x="4818888" y="960120"/>
            <a:ext cx="4160520" cy="118872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818888" y="960120"/>
            <a:ext cx="64008" cy="1188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01768" y="1033272"/>
            <a:ext cx="3840480" cy="384048"/>
          </a:xfrm>
          <a:prstGeom prst="rect">
            <a:avLst/>
          </a:prstGeom>
          <a:noFill/>
        </p:spPr>
        <p:txBody>
          <a:bodyPr wrap="square">
            <a:spAutoFit/>
          </a:bodyPr>
          <a:lstStyle/>
          <a:p>
            <a:pPr algn="l"/>
            <a:r>
              <a:rPr sz="1300" b="1" i="0">
                <a:solidFill>
                  <a:srgbClr val="1B6CA8"/>
                </a:solidFill>
              </a:rPr>
              <a:t>Episodic Learning</a:t>
            </a:r>
          </a:p>
        </p:txBody>
      </p:sp>
      <p:sp>
        <p:nvSpPr>
          <p:cNvPr id="12" name="TextBox 11"/>
          <p:cNvSpPr txBox="1"/>
          <p:nvPr/>
        </p:nvSpPr>
        <p:spPr>
          <a:xfrm>
            <a:off x="5001768" y="1399032"/>
            <a:ext cx="3840480" cy="658368"/>
          </a:xfrm>
          <a:prstGeom prst="rect">
            <a:avLst/>
          </a:prstGeom>
          <a:noFill/>
        </p:spPr>
        <p:txBody>
          <a:bodyPr wrap="square">
            <a:spAutoFit/>
          </a:bodyPr>
          <a:lstStyle/>
          <a:p>
            <a:pPr algn="l"/>
            <a:r>
              <a:rPr sz="1100" b="0" i="0">
                <a:solidFill>
                  <a:srgbClr val="CCD6E0"/>
                </a:solidFill>
              </a:rPr>
              <a:t>Each run from start to goal/failure is one episode. Policy improves across episodes.</a:t>
            </a:r>
          </a:p>
        </p:txBody>
      </p:sp>
      <p:sp>
        <p:nvSpPr>
          <p:cNvPr id="13" name="Rectangle 12"/>
          <p:cNvSpPr/>
          <p:nvPr/>
        </p:nvSpPr>
        <p:spPr>
          <a:xfrm>
            <a:off x="411480" y="2286000"/>
            <a:ext cx="4160520" cy="1188720"/>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 y="2286000"/>
            <a:ext cx="64008" cy="11887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359152"/>
            <a:ext cx="3840480" cy="384048"/>
          </a:xfrm>
          <a:prstGeom prst="rect">
            <a:avLst/>
          </a:prstGeom>
          <a:noFill/>
        </p:spPr>
        <p:txBody>
          <a:bodyPr wrap="square">
            <a:spAutoFit/>
          </a:bodyPr>
          <a:lstStyle/>
          <a:p>
            <a:pPr algn="l"/>
            <a:r>
              <a:rPr sz="1300" b="1" i="0">
                <a:solidFill>
                  <a:srgbClr val="2ECC71"/>
                </a:solidFill>
              </a:rPr>
              <a:t>Experience-Based Policy</a:t>
            </a:r>
          </a:p>
        </p:txBody>
      </p:sp>
      <p:sp>
        <p:nvSpPr>
          <p:cNvPr id="16" name="TextBox 15"/>
          <p:cNvSpPr txBox="1"/>
          <p:nvPr/>
        </p:nvSpPr>
        <p:spPr>
          <a:xfrm>
            <a:off x="594360" y="2724912"/>
            <a:ext cx="3840480" cy="658368"/>
          </a:xfrm>
          <a:prstGeom prst="rect">
            <a:avLst/>
          </a:prstGeom>
          <a:noFill/>
        </p:spPr>
        <p:txBody>
          <a:bodyPr wrap="square">
            <a:spAutoFit/>
          </a:bodyPr>
          <a:lstStyle/>
          <a:p>
            <a:pPr algn="l"/>
            <a:r>
              <a:rPr sz="1100" b="0" i="0">
                <a:solidFill>
                  <a:srgbClr val="CCD6E0"/>
                </a:solidFill>
              </a:rPr>
              <a:t>The policy grows as a blacklist of harmful (state,action) pairs — persistent across episodes.</a:t>
            </a:r>
          </a:p>
        </p:txBody>
      </p:sp>
      <p:sp>
        <p:nvSpPr>
          <p:cNvPr id="17" name="Rectangle 16"/>
          <p:cNvSpPr/>
          <p:nvPr/>
        </p:nvSpPr>
        <p:spPr>
          <a:xfrm>
            <a:off x="4818888" y="2286000"/>
            <a:ext cx="4160520" cy="1188720"/>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18888" y="2286000"/>
            <a:ext cx="64008" cy="1188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01768" y="2359152"/>
            <a:ext cx="3840480" cy="384048"/>
          </a:xfrm>
          <a:prstGeom prst="rect">
            <a:avLst/>
          </a:prstGeom>
          <a:noFill/>
        </p:spPr>
        <p:txBody>
          <a:bodyPr wrap="square">
            <a:spAutoFit/>
          </a:bodyPr>
          <a:lstStyle/>
          <a:p>
            <a:pPr algn="l"/>
            <a:r>
              <a:rPr sz="1300" b="1" i="0">
                <a:solidFill>
                  <a:srgbClr val="F39C12"/>
                </a:solidFill>
              </a:rPr>
              <a:t>Recursive Exploration</a:t>
            </a:r>
          </a:p>
        </p:txBody>
      </p:sp>
      <p:sp>
        <p:nvSpPr>
          <p:cNvPr id="20" name="TextBox 19"/>
          <p:cNvSpPr txBox="1"/>
          <p:nvPr/>
        </p:nvSpPr>
        <p:spPr>
          <a:xfrm>
            <a:off x="5001768" y="2724912"/>
            <a:ext cx="3840480" cy="658368"/>
          </a:xfrm>
          <a:prstGeom prst="rect">
            <a:avLst/>
          </a:prstGeom>
          <a:noFill/>
        </p:spPr>
        <p:txBody>
          <a:bodyPr wrap="square">
            <a:spAutoFit/>
          </a:bodyPr>
          <a:lstStyle/>
          <a:p>
            <a:pPr algn="l"/>
            <a:r>
              <a:rPr sz="1100" b="0" i="0">
                <a:solidFill>
                  <a:srgbClr val="CCD6E0"/>
                </a:solidFill>
              </a:rPr>
              <a:t>Depth-first search via recursion allows deep path traversal with automatic backtracking.</a:t>
            </a:r>
          </a:p>
        </p:txBody>
      </p:sp>
      <p:sp>
        <p:nvSpPr>
          <p:cNvPr id="21" name="Rectangle 20"/>
          <p:cNvSpPr/>
          <p:nvPr/>
        </p:nvSpPr>
        <p:spPr>
          <a:xfrm>
            <a:off x="411480" y="3611880"/>
            <a:ext cx="4160520" cy="1188720"/>
          </a:xfrm>
          <a:prstGeom prst="rect">
            <a:avLst/>
          </a:prstGeom>
          <a:solidFill>
            <a:srgbClr val="132A40"/>
          </a:solidFill>
          <a:ln w="1016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 y="3611880"/>
            <a:ext cx="64008" cy="11887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685032"/>
            <a:ext cx="3840480" cy="384048"/>
          </a:xfrm>
          <a:prstGeom prst="rect">
            <a:avLst/>
          </a:prstGeom>
          <a:noFill/>
        </p:spPr>
        <p:txBody>
          <a:bodyPr wrap="square">
            <a:spAutoFit/>
          </a:bodyPr>
          <a:lstStyle/>
          <a:p>
            <a:pPr algn="l"/>
            <a:r>
              <a:rPr sz="1300" b="1" i="0">
                <a:solidFill>
                  <a:srgbClr val="9B59B6"/>
                </a:solidFill>
              </a:rPr>
              <a:t>Cycle Prevention</a:t>
            </a:r>
          </a:p>
        </p:txBody>
      </p:sp>
      <p:sp>
        <p:nvSpPr>
          <p:cNvPr id="24" name="TextBox 23"/>
          <p:cNvSpPr txBox="1"/>
          <p:nvPr/>
        </p:nvSpPr>
        <p:spPr>
          <a:xfrm>
            <a:off x="594360" y="4050791"/>
            <a:ext cx="3840480" cy="658368"/>
          </a:xfrm>
          <a:prstGeom prst="rect">
            <a:avLst/>
          </a:prstGeom>
          <a:noFill/>
        </p:spPr>
        <p:txBody>
          <a:bodyPr wrap="square">
            <a:spAutoFit/>
          </a:bodyPr>
          <a:lstStyle/>
          <a:p>
            <a:pPr algn="l"/>
            <a:r>
              <a:rPr sz="1100" b="0" i="0">
                <a:solidFill>
                  <a:srgbClr val="CCD6E0"/>
                </a:solidFill>
              </a:rPr>
              <a:t>Path tracking prevents the agent from revisiting cells, avoiding infinite loops mid-episode.</a:t>
            </a:r>
          </a:p>
        </p:txBody>
      </p:sp>
      <p:sp>
        <p:nvSpPr>
          <p:cNvPr id="25" name="Rectangle 24"/>
          <p:cNvSpPr/>
          <p:nvPr/>
        </p:nvSpPr>
        <p:spPr>
          <a:xfrm>
            <a:off x="4818888" y="3611880"/>
            <a:ext cx="4160520" cy="1188720"/>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818888" y="3611880"/>
            <a:ext cx="64008" cy="11887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01768" y="3685032"/>
            <a:ext cx="3840480" cy="384048"/>
          </a:xfrm>
          <a:prstGeom prst="rect">
            <a:avLst/>
          </a:prstGeom>
          <a:noFill/>
        </p:spPr>
        <p:txBody>
          <a:bodyPr wrap="square">
            <a:spAutoFit/>
          </a:bodyPr>
          <a:lstStyle/>
          <a:p>
            <a:pPr algn="l"/>
            <a:r>
              <a:rPr sz="1300" b="1" i="0">
                <a:solidFill>
                  <a:srgbClr val="2ECC71"/>
                </a:solidFill>
              </a:rPr>
              <a:t>Convergence</a:t>
            </a:r>
          </a:p>
        </p:txBody>
      </p:sp>
      <p:sp>
        <p:nvSpPr>
          <p:cNvPr id="28" name="TextBox 27"/>
          <p:cNvSpPr txBox="1"/>
          <p:nvPr/>
        </p:nvSpPr>
        <p:spPr>
          <a:xfrm>
            <a:off x="5001768" y="4050791"/>
            <a:ext cx="3840480" cy="658368"/>
          </a:xfrm>
          <a:prstGeom prst="rect">
            <a:avLst/>
          </a:prstGeom>
          <a:noFill/>
        </p:spPr>
        <p:txBody>
          <a:bodyPr wrap="square">
            <a:spAutoFit/>
          </a:bodyPr>
          <a:lstStyle/>
          <a:p>
            <a:pPr algn="l"/>
            <a:r>
              <a:rPr sz="1100" b="0" i="0">
                <a:solidFill>
                  <a:srgbClr val="CCD6E0"/>
                </a:solidFill>
              </a:rPr>
              <a:t>As experience grows, the search space shrinks until only the optimal path remains.</a:t>
            </a:r>
          </a:p>
        </p:txBody>
      </p:sp>
      <p:sp>
        <p:nvSpPr>
          <p:cNvPr id="29" name="Rectangle 28"/>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Code Architecture</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0"/>
            <a:ext cx="4937760" cy="2148840"/>
          </a:xfrm>
          <a:prstGeom prst="rect">
            <a:avLst/>
          </a:prstGeom>
          <a:noFill/>
        </p:spPr>
        <p:txBody>
          <a:bodyPr wrap="square">
            <a:spAutoFit/>
          </a:bodyPr>
          <a:lstStyle/>
          <a:p>
            <a:pPr algn="l"/>
            <a:r>
              <a:rPr sz="1250" b="0" i="0">
                <a:solidFill>
                  <a:srgbClr val="CCD6E0"/>
                </a:solidFill>
              </a:rPr>
              <a:t>The Python implementation is structured around two nested functions that together implement the RL loop. start_algorithm() is the episode manager — it initialises state, resets the path, and relaunches the agent after each episode ends (trap hit or stuck). continue_algorithm() is the recursive action-selection engine — it executes one transition per call and recurses for the next. All shared RL state (current state, path, policy/experience) is passed as mutable lists so the nested functions share memory without globals.</a:t>
            </a:r>
          </a:p>
        </p:txBody>
      </p:sp>
      <p:sp>
        <p:nvSpPr>
          <p:cNvPr id="6" name="Rectangle 5"/>
          <p:cNvSpPr/>
          <p:nvPr/>
        </p:nvSpPr>
        <p:spPr>
          <a:xfrm>
            <a:off x="411480" y="3127248"/>
            <a:ext cx="8321040" cy="804672"/>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3127248"/>
            <a:ext cx="64008" cy="804672"/>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3172968"/>
            <a:ext cx="3200400" cy="365760"/>
          </a:xfrm>
          <a:prstGeom prst="rect">
            <a:avLst/>
          </a:prstGeom>
          <a:noFill/>
        </p:spPr>
        <p:txBody>
          <a:bodyPr wrap="square">
            <a:spAutoFit/>
          </a:bodyPr>
          <a:lstStyle/>
          <a:p>
            <a:pPr algn="l"/>
            <a:r>
              <a:rPr sz="1250" b="1" i="0">
                <a:solidFill>
                  <a:srgbClr val="00C9FF"/>
                </a:solidFill>
              </a:rPr>
              <a:t>start_algorithm()</a:t>
            </a:r>
          </a:p>
        </p:txBody>
      </p:sp>
      <p:sp>
        <p:nvSpPr>
          <p:cNvPr id="9" name="TextBox 8"/>
          <p:cNvSpPr txBox="1"/>
          <p:nvPr/>
        </p:nvSpPr>
        <p:spPr>
          <a:xfrm>
            <a:off x="594360" y="3529584"/>
            <a:ext cx="7955279" cy="347472"/>
          </a:xfrm>
          <a:prstGeom prst="rect">
            <a:avLst/>
          </a:prstGeom>
          <a:noFill/>
        </p:spPr>
        <p:txBody>
          <a:bodyPr wrap="square">
            <a:spAutoFit/>
          </a:bodyPr>
          <a:lstStyle/>
          <a:p>
            <a:pPr algn="l"/>
            <a:r>
              <a:rPr sz="1100" b="0" i="0">
                <a:solidFill>
                  <a:srgbClr val="CCD6E0"/>
                </a:solidFill>
              </a:rPr>
              <a:t>Episode Manager — resets environment state and re-launches the agent after each episode.</a:t>
            </a:r>
          </a:p>
        </p:txBody>
      </p:sp>
      <p:sp>
        <p:nvSpPr>
          <p:cNvPr id="10" name="Rectangle 9"/>
          <p:cNvSpPr/>
          <p:nvPr/>
        </p:nvSpPr>
        <p:spPr>
          <a:xfrm>
            <a:off x="411480" y="4041648"/>
            <a:ext cx="8321040" cy="804672"/>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4041648"/>
            <a:ext cx="64008" cy="80467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4087368"/>
            <a:ext cx="3200400" cy="365760"/>
          </a:xfrm>
          <a:prstGeom prst="rect">
            <a:avLst/>
          </a:prstGeom>
          <a:noFill/>
        </p:spPr>
        <p:txBody>
          <a:bodyPr wrap="square">
            <a:spAutoFit/>
          </a:bodyPr>
          <a:lstStyle/>
          <a:p>
            <a:pPr algn="l"/>
            <a:r>
              <a:rPr sz="1250" b="1" i="0">
                <a:solidFill>
                  <a:srgbClr val="F39C12"/>
                </a:solidFill>
              </a:rPr>
              <a:t>continue_algorithm()</a:t>
            </a:r>
          </a:p>
        </p:txBody>
      </p:sp>
      <p:sp>
        <p:nvSpPr>
          <p:cNvPr id="13" name="TextBox 12"/>
          <p:cNvSpPr txBox="1"/>
          <p:nvPr/>
        </p:nvSpPr>
        <p:spPr>
          <a:xfrm>
            <a:off x="594360" y="4443984"/>
            <a:ext cx="7955279" cy="347472"/>
          </a:xfrm>
          <a:prstGeom prst="rect">
            <a:avLst/>
          </a:prstGeom>
          <a:noFill/>
        </p:spPr>
        <p:txBody>
          <a:bodyPr wrap="square">
            <a:spAutoFit/>
          </a:bodyPr>
          <a:lstStyle/>
          <a:p>
            <a:pPr algn="l"/>
            <a:r>
              <a:rPr sz="1100" b="0" i="0">
                <a:solidFill>
                  <a:srgbClr val="CCD6E0"/>
                </a:solidFill>
              </a:rPr>
              <a:t>RL Step Engine — selects action via policy, executes transition, receives reward, recurses.</a:t>
            </a:r>
          </a:p>
        </p:txBody>
      </p:sp>
      <p:sp>
        <p:nvSpPr>
          <p:cNvPr id="14" name="Rectangle 13"/>
          <p:cNvSpPr/>
          <p:nvPr/>
        </p:nvSpPr>
        <p:spPr>
          <a:xfrm>
            <a:off x="5376672" y="914400"/>
            <a:ext cx="3401568" cy="210312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68112" y="969264"/>
            <a:ext cx="3200400" cy="347472"/>
          </a:xfrm>
          <a:prstGeom prst="rect">
            <a:avLst/>
          </a:prstGeom>
          <a:noFill/>
        </p:spPr>
        <p:txBody>
          <a:bodyPr wrap="square">
            <a:spAutoFit/>
          </a:bodyPr>
          <a:lstStyle/>
          <a:p>
            <a:pPr algn="l"/>
            <a:r>
              <a:rPr sz="1150" b="1" i="0">
                <a:solidFill>
                  <a:srgbClr val="00C9FF"/>
                </a:solidFill>
              </a:rPr>
              <a:t>RL State Variables</a:t>
            </a:r>
          </a:p>
        </p:txBody>
      </p:sp>
      <p:sp>
        <p:nvSpPr>
          <p:cNvPr id="16" name="TextBox 15"/>
          <p:cNvSpPr txBox="1"/>
          <p:nvPr/>
        </p:nvSpPr>
        <p:spPr>
          <a:xfrm>
            <a:off x="5468112" y="1316736"/>
            <a:ext cx="3218688" cy="1600200"/>
          </a:xfrm>
          <a:prstGeom prst="rect">
            <a:avLst/>
          </a:prstGeom>
          <a:noFill/>
        </p:spPr>
        <p:txBody>
          <a:bodyPr wrap="square">
            <a:spAutoFit/>
          </a:bodyPr>
          <a:lstStyle/>
          <a:p>
            <a:pPr algn="l">
              <a:spcAft>
                <a:spcPts val="300"/>
              </a:spcAft>
            </a:pPr>
            <a:r>
              <a:rPr sz="1000" b="0">
                <a:solidFill>
                  <a:srgbClr val="CCD6E0"/>
                </a:solidFill>
              </a:rPr>
              <a:t>state      → [current (row,col)]</a:t>
            </a:r>
          </a:p>
          <a:p>
            <a:pPr algn="l">
              <a:spcAft>
                <a:spcPts val="300"/>
              </a:spcAft>
            </a:pPr>
            <a:r>
              <a:rPr sz="1000" b="0">
                <a:solidFill>
                  <a:srgbClr val="CCD6E0"/>
                </a:solidFill>
              </a:rPr>
              <a:t>path       → list of visited cells</a:t>
            </a:r>
          </a:p>
          <a:p>
            <a:pPr algn="l">
              <a:spcAft>
                <a:spcPts val="300"/>
              </a:spcAft>
            </a:pPr>
            <a:r>
              <a:rPr sz="1000" b="0">
                <a:solidFill>
                  <a:srgbClr val="CCD6E0"/>
                </a:solidFill>
              </a:rPr>
              <a:t>experience → policy blacklist</a:t>
            </a:r>
          </a:p>
          <a:p>
            <a:pPr algn="l">
              <a:spcAft>
                <a:spcPts val="300"/>
              </a:spcAft>
            </a:pPr>
            <a:r>
              <a:rPr sz="1000" b="0">
                <a:solidFill>
                  <a:srgbClr val="CCD6E0"/>
                </a:solidFill>
              </a:rPr>
              <a:t>actions    → 4 moves [(0,1)(0,-1)</a:t>
            </a:r>
          </a:p>
          <a:p>
            <a:pPr algn="l">
              <a:spcAft>
                <a:spcPts val="300"/>
              </a:spcAft>
            </a:pPr>
            <a:r>
              <a:rPr sz="1000" b="0">
                <a:solidFill>
                  <a:srgbClr val="CCD6E0"/>
                </a:solidFill>
              </a:rPr>
              <a:t>             (1,0)(-1,0)]</a:t>
            </a:r>
          </a:p>
          <a:p>
            <a:pPr algn="l">
              <a:spcAft>
                <a:spcPts val="300"/>
              </a:spcAft>
            </a:pPr>
            <a:r>
              <a:rPr sz="1000" b="0">
                <a:solidFill>
                  <a:srgbClr val="CCD6E0"/>
                </a:solidFill>
              </a:rPr>
              <a:t>rewards    → +ve cell list</a:t>
            </a:r>
          </a:p>
          <a:p>
            <a:pPr algn="l">
              <a:spcAft>
                <a:spcPts val="300"/>
              </a:spcAft>
            </a:pPr>
            <a:r>
              <a:rPr sz="1000" b="0">
                <a:solidFill>
                  <a:srgbClr val="CCD6E0"/>
                </a:solidFill>
              </a:rPr>
              <a:t>punishments→ −ve cell list</a:t>
            </a:r>
          </a:p>
        </p:txBody>
      </p:sp>
      <p:sp>
        <p:nvSpPr>
          <p:cNvPr id="17" name="Rectangle 16"/>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Output &amp; Results</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14400"/>
            <a:ext cx="8321040" cy="1783080"/>
          </a:xfrm>
          <a:prstGeom prst="rect">
            <a:avLst/>
          </a:prstGeom>
          <a:noFill/>
        </p:spPr>
        <p:txBody>
          <a:bodyPr wrap="square">
            <a:spAutoFit/>
          </a:bodyPr>
          <a:lstStyle/>
          <a:p>
            <a:pPr algn="l"/>
            <a:r>
              <a:rPr sz="1300" b="0" i="0">
                <a:solidFill>
                  <a:srgbClr val="CCD6E0"/>
                </a:solidFill>
              </a:rPr>
              <a:t>After sufficient episodes, the agent's policy converges and it successfully navigates from start to goal without triggering any punishment. The algorithm returns two outputs: the final path (ordered list of states visited) and the full experience list (complete policy). The path represents the agent's learned optimal route. The experience list captures every (state,action) pair the agent discovered was harmful — the knowledge it accumulated across all episodes.</a:t>
            </a:r>
          </a:p>
        </p:txBody>
      </p:sp>
      <p:sp>
        <p:nvSpPr>
          <p:cNvPr id="6" name="Rectangle 5"/>
          <p:cNvSpPr/>
          <p:nvPr/>
        </p:nvSpPr>
        <p:spPr>
          <a:xfrm>
            <a:off x="411480" y="2788920"/>
            <a:ext cx="8321040" cy="1719072"/>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852928"/>
            <a:ext cx="8046720" cy="347472"/>
          </a:xfrm>
          <a:prstGeom prst="rect">
            <a:avLst/>
          </a:prstGeom>
          <a:noFill/>
        </p:spPr>
        <p:txBody>
          <a:bodyPr wrap="square">
            <a:spAutoFit/>
          </a:bodyPr>
          <a:lstStyle/>
          <a:p>
            <a:pPr algn="l"/>
            <a:r>
              <a:rPr sz="1200" b="1" i="0">
                <a:solidFill>
                  <a:srgbClr val="00C9FF"/>
                </a:solidFill>
              </a:rPr>
              <a:t>Sample Output</a:t>
            </a:r>
          </a:p>
        </p:txBody>
      </p:sp>
      <p:sp>
        <p:nvSpPr>
          <p:cNvPr id="8" name="TextBox 7"/>
          <p:cNvSpPr txBox="1"/>
          <p:nvPr/>
        </p:nvSpPr>
        <p:spPr>
          <a:xfrm>
            <a:off x="594360" y="3218688"/>
            <a:ext cx="8046720" cy="384048"/>
          </a:xfrm>
          <a:prstGeom prst="rect">
            <a:avLst/>
          </a:prstGeom>
          <a:noFill/>
        </p:spPr>
        <p:txBody>
          <a:bodyPr wrap="square">
            <a:spAutoFit/>
          </a:bodyPr>
          <a:lstStyle/>
          <a:p>
            <a:pPr algn="l"/>
            <a:r>
              <a:rPr sz="1250" b="1" i="0">
                <a:solidFill>
                  <a:srgbClr val="2ECC71"/>
                </a:solidFill>
              </a:rPr>
              <a:t>Learned Path:   [(3,0) → (2,0) → (1,0) → (0,0) → (0,1) → (0,2) → (0,3)]</a:t>
            </a:r>
          </a:p>
        </p:txBody>
      </p:sp>
      <p:sp>
        <p:nvSpPr>
          <p:cNvPr id="9" name="TextBox 8"/>
          <p:cNvSpPr txBox="1"/>
          <p:nvPr/>
        </p:nvSpPr>
        <p:spPr>
          <a:xfrm>
            <a:off x="594360" y="3621024"/>
            <a:ext cx="8046720" cy="347472"/>
          </a:xfrm>
          <a:prstGeom prst="rect">
            <a:avLst/>
          </a:prstGeom>
          <a:noFill/>
        </p:spPr>
        <p:txBody>
          <a:bodyPr wrap="square">
            <a:spAutoFit/>
          </a:bodyPr>
          <a:lstStyle/>
          <a:p>
            <a:pPr algn="l"/>
            <a:r>
              <a:rPr sz="1200" b="0" i="0">
                <a:solidFill>
                  <a:srgbClr val="F39C12"/>
                </a:solidFill>
              </a:rPr>
              <a:t>Policy Size:    8 blacklisted (state → action) pairs accumulated across 4 episodes</a:t>
            </a:r>
          </a:p>
        </p:txBody>
      </p:sp>
      <p:sp>
        <p:nvSpPr>
          <p:cNvPr id="10" name="TextBox 9"/>
          <p:cNvSpPr txBox="1"/>
          <p:nvPr/>
        </p:nvSpPr>
        <p:spPr>
          <a:xfrm>
            <a:off x="594360" y="3986784"/>
            <a:ext cx="8046720" cy="347472"/>
          </a:xfrm>
          <a:prstGeom prst="rect">
            <a:avLst/>
          </a:prstGeom>
          <a:noFill/>
        </p:spPr>
        <p:txBody>
          <a:bodyPr wrap="square">
            <a:spAutoFit/>
          </a:bodyPr>
          <a:lstStyle/>
          <a:p>
            <a:pPr algn="l"/>
            <a:r>
              <a:rPr sz="1150" b="0" i="1">
                <a:solidFill>
                  <a:srgbClr val="CCD6E0"/>
                </a:solidFill>
              </a:rPr>
              <a:t>Episodes run:   4 resets before convergence  |  Final path length: 7 steps</a:t>
            </a:r>
          </a:p>
        </p:txBody>
      </p:sp>
      <p:sp>
        <p:nvSpPr>
          <p:cNvPr id="11" name="Rectangle 10"/>
          <p:cNvSpPr/>
          <p:nvPr/>
        </p:nvSpPr>
        <p:spPr>
          <a:xfrm>
            <a:off x="0" y="4754880"/>
            <a:ext cx="9144000" cy="38862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4773168"/>
            <a:ext cx="8412480" cy="320040"/>
          </a:xfrm>
          <a:prstGeom prst="rect">
            <a:avLst/>
          </a:prstGeom>
          <a:noFill/>
        </p:spPr>
        <p:txBody>
          <a:bodyPr wrap="square">
            <a:spAutoFit/>
          </a:bodyPr>
          <a:lstStyle/>
          <a:p>
            <a:pPr algn="ctr"/>
            <a:r>
              <a:rPr sz="1100" b="0" i="0">
                <a:solidFill>
                  <a:srgbClr val="557799"/>
                </a:solidFill>
              </a:rPr>
              <a:t>Man in Maze  —  Reinforcement Learning Project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5143500"/>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8321040" cy="594360"/>
          </a:xfrm>
          <a:prstGeom prst="rect">
            <a:avLst/>
          </a:prstGeom>
          <a:noFill/>
        </p:spPr>
        <p:txBody>
          <a:bodyPr wrap="square">
            <a:spAutoFit/>
          </a:bodyPr>
          <a:lstStyle/>
          <a:p>
            <a:pPr algn="l"/>
            <a:r>
              <a:rPr sz="3000" b="1" i="0">
                <a:solidFill>
                  <a:srgbClr val="00C9FF"/>
                </a:solidFill>
              </a:rPr>
              <a:t>Conclusion</a:t>
            </a:r>
          </a:p>
        </p:txBody>
      </p:sp>
      <p:sp>
        <p:nvSpPr>
          <p:cNvPr id="4" name="Rectangle 3"/>
          <p:cNvSpPr/>
          <p:nvPr/>
        </p:nvSpPr>
        <p:spPr>
          <a:xfrm>
            <a:off x="411480" y="713232"/>
            <a:ext cx="109728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24128"/>
            <a:ext cx="8321040" cy="1920240"/>
          </a:xfrm>
          <a:prstGeom prst="rect">
            <a:avLst/>
          </a:prstGeom>
          <a:noFill/>
        </p:spPr>
        <p:txBody>
          <a:bodyPr wrap="square">
            <a:spAutoFit/>
          </a:bodyPr>
          <a:lstStyle/>
          <a:p>
            <a:pPr algn="l"/>
            <a:r>
              <a:rPr sz="1350" b="0" i="0">
                <a:solidFill>
                  <a:srgbClr val="CCD6E0"/>
                </a:solidFill>
              </a:rPr>
              <a:t>Man in Maze is a complete, ground-up Reinforcement Learning implementation — not just a search algorithm. The agent, environment, state space, action set, reward signals, and policy are all explicitly defined and tightly mapped to classical RL theory. The agent learns through interaction, updates its policy after every negative reward, and converges to a solution by pruning the search space episode by episode. The project demonstrates that even a simple grid world can powerfully illustrate the core RL loop, and the interactive visualiser makes every step of that loop fully transparent.</a:t>
            </a:r>
          </a:p>
        </p:txBody>
      </p:sp>
      <p:sp>
        <p:nvSpPr>
          <p:cNvPr id="6" name="Rectangle 5"/>
          <p:cNvSpPr/>
          <p:nvPr/>
        </p:nvSpPr>
        <p:spPr>
          <a:xfrm>
            <a:off x="411480" y="3127248"/>
            <a:ext cx="2011680" cy="1371600"/>
          </a:xfrm>
          <a:prstGeom prst="rect">
            <a:avLst/>
          </a:prstGeom>
          <a:solidFill>
            <a:srgbClr val="132A40"/>
          </a:solidFill>
          <a:ln w="10160">
            <a:solidFill>
              <a:srgbClr val="00C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3127248"/>
            <a:ext cx="2011680" cy="64008"/>
          </a:xfrm>
          <a:prstGeom prst="rect">
            <a:avLst/>
          </a:prstGeom>
          <a:solidFill>
            <a:srgbClr val="00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3218688"/>
            <a:ext cx="1828800" cy="384048"/>
          </a:xfrm>
          <a:prstGeom prst="rect">
            <a:avLst/>
          </a:prstGeom>
          <a:noFill/>
        </p:spPr>
        <p:txBody>
          <a:bodyPr wrap="square">
            <a:spAutoFit/>
          </a:bodyPr>
          <a:lstStyle/>
          <a:p>
            <a:pPr algn="ctr"/>
            <a:r>
              <a:rPr sz="1250" b="1" i="0">
                <a:solidFill>
                  <a:srgbClr val="00C9FF"/>
                </a:solidFill>
              </a:rPr>
              <a:t>RL Agent</a:t>
            </a:r>
          </a:p>
        </p:txBody>
      </p:sp>
      <p:sp>
        <p:nvSpPr>
          <p:cNvPr id="9" name="TextBox 8"/>
          <p:cNvSpPr txBox="1"/>
          <p:nvPr/>
        </p:nvSpPr>
        <p:spPr>
          <a:xfrm>
            <a:off x="502920" y="3621024"/>
            <a:ext cx="1828800" cy="749808"/>
          </a:xfrm>
          <a:prstGeom prst="rect">
            <a:avLst/>
          </a:prstGeom>
          <a:noFill/>
        </p:spPr>
        <p:txBody>
          <a:bodyPr wrap="square">
            <a:spAutoFit/>
          </a:bodyPr>
          <a:lstStyle/>
          <a:p>
            <a:pPr algn="ctr"/>
            <a:r>
              <a:rPr sz="1000" b="0" i="0">
                <a:solidFill>
                  <a:srgbClr val="CCD6E0"/>
                </a:solidFill>
              </a:rPr>
              <a:t>Model-free, episodic learning agent</a:t>
            </a:r>
          </a:p>
        </p:txBody>
      </p:sp>
      <p:sp>
        <p:nvSpPr>
          <p:cNvPr id="10" name="Rectangle 9"/>
          <p:cNvSpPr/>
          <p:nvPr/>
        </p:nvSpPr>
        <p:spPr>
          <a:xfrm>
            <a:off x="2578608" y="3127248"/>
            <a:ext cx="2011680" cy="1371600"/>
          </a:xfrm>
          <a:prstGeom prst="rect">
            <a:avLst/>
          </a:prstGeom>
          <a:solidFill>
            <a:srgbClr val="132A40"/>
          </a:solidFill>
          <a:ln w="10160">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78608" y="3127248"/>
            <a:ext cx="2011680" cy="6400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70048" y="3218688"/>
            <a:ext cx="1828800" cy="384048"/>
          </a:xfrm>
          <a:prstGeom prst="rect">
            <a:avLst/>
          </a:prstGeom>
          <a:noFill/>
        </p:spPr>
        <p:txBody>
          <a:bodyPr wrap="square">
            <a:spAutoFit/>
          </a:bodyPr>
          <a:lstStyle/>
          <a:p>
            <a:pPr algn="ctr"/>
            <a:r>
              <a:rPr sz="1250" b="1" i="0">
                <a:solidFill>
                  <a:srgbClr val="1B6CA8"/>
                </a:solidFill>
              </a:rPr>
              <a:t>Policy Learning</a:t>
            </a:r>
          </a:p>
        </p:txBody>
      </p:sp>
      <p:sp>
        <p:nvSpPr>
          <p:cNvPr id="13" name="TextBox 12"/>
          <p:cNvSpPr txBox="1"/>
          <p:nvPr/>
        </p:nvSpPr>
        <p:spPr>
          <a:xfrm>
            <a:off x="2670048" y="3621024"/>
            <a:ext cx="1828800" cy="749808"/>
          </a:xfrm>
          <a:prstGeom prst="rect">
            <a:avLst/>
          </a:prstGeom>
          <a:noFill/>
        </p:spPr>
        <p:txBody>
          <a:bodyPr wrap="square">
            <a:spAutoFit/>
          </a:bodyPr>
          <a:lstStyle/>
          <a:p>
            <a:pPr algn="ctr"/>
            <a:r>
              <a:rPr sz="1000" b="0" i="0">
                <a:solidFill>
                  <a:srgbClr val="CCD6E0"/>
                </a:solidFill>
              </a:rPr>
              <a:t>Experience blacklist as adaptive policy</a:t>
            </a:r>
          </a:p>
        </p:txBody>
      </p:sp>
      <p:sp>
        <p:nvSpPr>
          <p:cNvPr id="14" name="Rectangle 13"/>
          <p:cNvSpPr/>
          <p:nvPr/>
        </p:nvSpPr>
        <p:spPr>
          <a:xfrm>
            <a:off x="4745736" y="3127248"/>
            <a:ext cx="2011680" cy="1371600"/>
          </a:xfrm>
          <a:prstGeom prst="rect">
            <a:avLst/>
          </a:prstGeom>
          <a:solidFill>
            <a:srgbClr val="132A40"/>
          </a:solidFill>
          <a:ln w="1016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45736" y="3127248"/>
            <a:ext cx="2011680"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37176" y="3218688"/>
            <a:ext cx="1828800" cy="384048"/>
          </a:xfrm>
          <a:prstGeom prst="rect">
            <a:avLst/>
          </a:prstGeom>
          <a:noFill/>
        </p:spPr>
        <p:txBody>
          <a:bodyPr wrap="square">
            <a:spAutoFit/>
          </a:bodyPr>
          <a:lstStyle/>
          <a:p>
            <a:pPr algn="ctr"/>
            <a:r>
              <a:rPr sz="1250" b="1" i="0">
                <a:solidFill>
                  <a:srgbClr val="2ECC71"/>
                </a:solidFill>
              </a:rPr>
              <a:t>Reward Design</a:t>
            </a:r>
          </a:p>
        </p:txBody>
      </p:sp>
      <p:sp>
        <p:nvSpPr>
          <p:cNvPr id="17" name="TextBox 16"/>
          <p:cNvSpPr txBox="1"/>
          <p:nvPr/>
        </p:nvSpPr>
        <p:spPr>
          <a:xfrm>
            <a:off x="4837176" y="3621024"/>
            <a:ext cx="1828800" cy="749808"/>
          </a:xfrm>
          <a:prstGeom prst="rect">
            <a:avLst/>
          </a:prstGeom>
          <a:noFill/>
        </p:spPr>
        <p:txBody>
          <a:bodyPr wrap="square">
            <a:spAutoFit/>
          </a:bodyPr>
          <a:lstStyle/>
          <a:p>
            <a:pPr algn="ctr"/>
            <a:r>
              <a:rPr sz="1000" b="0" i="0">
                <a:solidFill>
                  <a:srgbClr val="CCD6E0"/>
                </a:solidFill>
              </a:rPr>
              <a:t>Positive rewards + negative punishments</a:t>
            </a:r>
          </a:p>
        </p:txBody>
      </p:sp>
      <p:sp>
        <p:nvSpPr>
          <p:cNvPr id="18" name="Rectangle 17"/>
          <p:cNvSpPr/>
          <p:nvPr/>
        </p:nvSpPr>
        <p:spPr>
          <a:xfrm>
            <a:off x="6912864" y="3127248"/>
            <a:ext cx="2011680" cy="1371600"/>
          </a:xfrm>
          <a:prstGeom prst="rect">
            <a:avLst/>
          </a:prstGeom>
          <a:solidFill>
            <a:srgbClr val="132A40"/>
          </a:solidFill>
          <a:ln w="1016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912864" y="3127248"/>
            <a:ext cx="2011680" cy="640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04304" y="3218688"/>
            <a:ext cx="1828800" cy="384048"/>
          </a:xfrm>
          <a:prstGeom prst="rect">
            <a:avLst/>
          </a:prstGeom>
          <a:noFill/>
        </p:spPr>
        <p:txBody>
          <a:bodyPr wrap="square">
            <a:spAutoFit/>
          </a:bodyPr>
          <a:lstStyle/>
          <a:p>
            <a:pPr algn="ctr"/>
            <a:r>
              <a:rPr sz="1250" b="1" i="0">
                <a:solidFill>
                  <a:srgbClr val="F39C12"/>
                </a:solidFill>
              </a:rPr>
              <a:t>Convergence</a:t>
            </a:r>
          </a:p>
        </p:txBody>
      </p:sp>
      <p:sp>
        <p:nvSpPr>
          <p:cNvPr id="21" name="TextBox 20"/>
          <p:cNvSpPr txBox="1"/>
          <p:nvPr/>
        </p:nvSpPr>
        <p:spPr>
          <a:xfrm>
            <a:off x="7004304" y="3621024"/>
            <a:ext cx="1828800" cy="749808"/>
          </a:xfrm>
          <a:prstGeom prst="rect">
            <a:avLst/>
          </a:prstGeom>
          <a:noFill/>
        </p:spPr>
        <p:txBody>
          <a:bodyPr wrap="square">
            <a:spAutoFit/>
          </a:bodyPr>
          <a:lstStyle/>
          <a:p>
            <a:pPr algn="ctr"/>
            <a:r>
              <a:rPr sz="1000" b="0" i="0">
                <a:solidFill>
                  <a:srgbClr val="CCD6E0"/>
                </a:solidFill>
              </a:rPr>
              <a:t>Policy prunes to optimal path over episodes</a:t>
            </a:r>
          </a:p>
        </p:txBody>
      </p:sp>
      <p:sp>
        <p:nvSpPr>
          <p:cNvPr id="22" name="Rectangle 21"/>
          <p:cNvSpPr/>
          <p:nvPr/>
        </p:nvSpPr>
        <p:spPr>
          <a:xfrm>
            <a:off x="0" y="4617720"/>
            <a:ext cx="9144000" cy="1371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4645152"/>
            <a:ext cx="8412480" cy="384048"/>
          </a:xfrm>
          <a:prstGeom prst="rect">
            <a:avLst/>
          </a:prstGeom>
          <a:noFill/>
        </p:spPr>
        <p:txBody>
          <a:bodyPr wrap="square">
            <a:spAutoFit/>
          </a:bodyPr>
          <a:lstStyle/>
          <a:p>
            <a:pPr algn="ctr"/>
            <a:r>
              <a:rPr sz="1200" b="1" i="0">
                <a:solidFill>
                  <a:srgbClr val="FFFFFF"/>
                </a:solidFill>
              </a:rPr>
              <a:t>Thank You  •  Man in Maze  •  Reinforcement Learning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1736</Words>
  <Application>Microsoft Office PowerPoint</Application>
  <PresentationFormat>On-screen Show (16:9)</PresentationFormat>
  <Paragraphs>162</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Ashna Vijolin</dc:creator>
  <cp:keywords/>
  <dc:description>generated using python-pptx</dc:description>
  <cp:lastModifiedBy>Ashna Vijolin</cp:lastModifiedBy>
  <cp:revision>2</cp:revision>
  <dcterms:created xsi:type="dcterms:W3CDTF">2013-01-27T09:14:16Z</dcterms:created>
  <dcterms:modified xsi:type="dcterms:W3CDTF">2026-05-03T18:12:17Z</dcterms:modified>
  <cp:category/>
</cp:coreProperties>
</file>